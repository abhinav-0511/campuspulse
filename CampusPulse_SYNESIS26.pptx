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55C009C-CCB8-F403-EF52-8AD2834F642B}">
          <p14:sldIdLst>
            <p14:sldId id="256"/>
          </p14:sldIdLst>
        </p14:section>
        <p14:section name="Problem" id="{12A59A2E-E179-6D65-B971-560C37FE91C7}">
          <p14:sldIdLst>
            <p14:sldId id="257"/>
          </p14:sldIdLst>
        </p14:section>
        <p14:section name="Solution" id="{ADD46C08-D899-4937-FC10-BC502EEB4F41}">
          <p14:sldIdLst>
            <p14:sldId id="258"/>
            <p14:sldId id="259"/>
          </p14:sldIdLst>
        </p14:section>
        <p14:section name="Find an Event" id="{D4998BB7-1AA8-9D6B-C80F-6467363B5647}">
          <p14:sldIdLst>
            <p14:sldId id="260"/>
            <p14:sldId id="261"/>
            <p14:sldId id="262"/>
          </p14:sldIdLst>
        </p14:section>
        <p14:section name="Host an Event" id="{5F76A460-F564-0B2E-6A31-EEC772711A9F}">
          <p14:sldIdLst>
            <p14:sldId id="263"/>
            <p14:sldId id="264"/>
            <p14:sldId id="265"/>
            <p14:sldId id="266"/>
          </p14:sldIdLst>
        </p14:section>
        <p14:section name="Fit &amp; Tech" id="{145F0562-BCEB-4673-DCEF-045DE555F089}">
          <p14:sldIdLst>
            <p14:sldId id="267"/>
            <p14:sldId id="268"/>
            <p14:sldId id="269"/>
          </p14:sldIdLst>
        </p14:section>
        <p14:section name="Closing" id="{73A331DE-0297-18E2-3D81-8EDC769B8307}">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2647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CampusPulse is our answer to Problem Statement 1: one platform where students find and register for events and organizers host them, from poster to certificate.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events are discovered by luck. Students track registrations across forms and chats. Organizers rebuild spreadsheets for every event, verify UPI payments by hand, and find venue clashes on the day.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roles, each with its own login. Students sign up with register number and college so certificates are accurate. Club and department admins are created by the portal admin.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journey in seven steps. Colors show who acts at each step. This matches the goal sentence of the problem statement, and it is the path we will demo.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 home shows what is relevant now: tomorrow alerts, search, featured events, events this week and closing deadlines.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leader adds teammates by their CampusPulse ID. Payment uses the club QR. The student enters the UPI transaction ID; the same ID cannot be used twice.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confirmed team gets a QR pass. At the gate the volunteer scans it with a phone camera, unticks anyone absent and admits the team. The QR is cryptographically signed, so an edited QR is rejected. Attendance updates live on the organizer dashboard.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Organizers create the event once. Payments come into a queue with transaction ID and screenshot. One click approves and sends the WhatsApp group link. The full registration list exports to Excel.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club sees its own numbers; the portal admin sees every club, registrations over the last 14 days and open complaints.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Approvals are digital. The admin approves or requests changes with a note, sees venue clashes before approving, and can feature events, create department-wise admins and handle complaints.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event the organizer shows a feedback QR. Awards turn participation certificates into achievement certificates. Certificates go to the team leader and anyone can verify them by scanning the QR.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Mapping to the problem statement. Five of the suggested capabilities are fully built. Recommendations and AI flyer extraction are our next phase.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simple, reliable stack: React, Node, SQLite. It runs on any laptop. Security basics are built in from day one.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add AI: a CampusPulse assistant for student questions and poster-to-event extraction, plus personalized recommendations and venue suggestions.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jury and move to the live demo, or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6F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tx2"/>
                </a:solidFill>
              </a:rPr>
              <a:t>CampusPulse  ·  SYNESIS'26, SRM Ramapuram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0E14"/>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554480"/>
            <a:ext cx="5669280" cy="1097280"/>
          </a:xfrm>
          <a:prstGeom prst="rect">
            <a:avLst/>
          </a:prstGeom>
          <a:noFill/>
          <a:ln/>
        </p:spPr>
        <p:txBody>
          <a:bodyPr wrap="square" rtlCol="0"/>
          <a:lstStyle>
            <a:lvl1pPr marL="0" indent="0" algn="l">
              <a:buNone/>
              <a:defRPr lang="en-US" sz="6000" b="1" dirty="0">
                <a:solidFill>
                  <a:schemeClr val="bg1"/>
                </a:solidFill>
              </a:defRPr>
            </a:lvl1pPr>
          </a:lstStyle>
          <a:p>
            <a:pPr marL="0" indent="0" algn="l">
              <a:buNone/>
            </a:pPr>
            <a:endParaRPr lang="en-US" sz="6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640080" y="1051560"/>
            <a:ext cx="5852160" cy="365760"/>
          </a:xfrm>
          <a:prstGeom prst="rect">
            <a:avLst/>
          </a:prstGeom>
          <a:noFill/>
          <a:ln/>
        </p:spPr>
        <p:txBody>
          <a:bodyPr wrap="square" lIns="0" tIns="0" rIns="0" bIns="0" rtlCol="0" anchor="ctr"/>
          <a:lstStyle/>
          <a:p>
            <a:pPr marL="0" indent="0">
              <a:buNone/>
            </a:pPr>
            <a:r>
              <a:rPr lang="en-US" sz="1300" b="1" kern="0" spc="200" dirty="0">
                <a:solidFill>
                  <a:schemeClr val="accent1"/>
                </a:solidFill>
              </a:rPr>
              <a:t>SYNESIS'26  ·  SRM RAMAPURAM  ·  SMART CAMPUS PS-1</a:t>
            </a:r>
            <a:endParaRPr lang="en-US" sz="1300" dirty="0"/>
          </a:p>
        </p:txBody>
      </p:sp>
      <p:sp>
        <p:nvSpPr>
          <p:cNvPr id="3" name="Text 0"/>
          <p:cNvSpPr>
            <a:spLocks noGrp="1"/>
          </p:cNvSpPr>
          <p:nvPr>
            <p:ph type="title" idx="100" hasCustomPrompt="1"/>
          </p:nvPr>
        </p:nvSpPr>
        <p:spPr>
          <a:xfrm>
            <a:off x="640080" y="1554480"/>
            <a:ext cx="5669280" cy="1097280"/>
          </a:xfrm>
          <a:prstGeom prst="rect">
            <a:avLst/>
          </a:prstGeom>
          <a:noFill/>
          <a:ln/>
        </p:spPr>
        <p:txBody>
          <a:bodyPr wrap="square" lIns="0" tIns="0" rIns="0" bIns="0" rtlCol="0" anchor="t"/>
          <a:lstStyle/>
          <a:p>
            <a:pPr marL="0" indent="0" algn="l">
              <a:buNone/>
            </a:pPr>
            <a:r>
              <a:rPr lang="en-US" sz="6000" b="1" dirty="0">
                <a:solidFill>
                  <a:schemeClr val="bg1"/>
                </a:solidFill>
              </a:rPr>
              <a:t>CampusPulse</a:t>
            </a:r>
            <a:endParaRPr lang="en-US" sz="6000" dirty="0"/>
          </a:p>
        </p:txBody>
      </p:sp>
      <p:sp>
        <p:nvSpPr>
          <p:cNvPr id="4" name="subtitle"/>
          <p:cNvSpPr txBox="1"/>
          <p:nvPr/>
        </p:nvSpPr>
        <p:spPr>
          <a:xfrm>
            <a:off x="640080" y="2697480"/>
            <a:ext cx="5394960" cy="914400"/>
          </a:xfrm>
          <a:prstGeom prst="rect">
            <a:avLst/>
          </a:prstGeom>
          <a:noFill/>
          <a:ln/>
        </p:spPr>
        <p:txBody>
          <a:bodyPr wrap="square" lIns="0" tIns="0" rIns="0" bIns="0" rtlCol="0" anchor="ctr"/>
          <a:lstStyle/>
          <a:p>
            <a:pPr marL="0" indent="0">
              <a:buNone/>
            </a:pPr>
            <a:r>
              <a:rPr lang="en-US" sz="2200" dirty="0">
                <a:solidFill>
                  <a:schemeClr val="bg2"/>
                </a:solidFill>
              </a:rPr>
              <a:t>The two-sided smart event hub &amp; hosting pipeline for your campus</a:t>
            </a:r>
            <a:endParaRPr lang="en-US" sz="2200" dirty="0"/>
          </a:p>
        </p:txBody>
      </p:sp>
      <p:sp>
        <p:nvSpPr>
          <p:cNvPr id="5" name="tagline"/>
          <p:cNvSpPr txBox="1"/>
          <p:nvPr/>
        </p:nvSpPr>
        <p:spPr>
          <a:xfrm>
            <a:off x="640080" y="3794760"/>
            <a:ext cx="5394960" cy="365760"/>
          </a:xfrm>
          <a:prstGeom prst="rect">
            <a:avLst/>
          </a:prstGeom>
          <a:noFill/>
          <a:ln/>
        </p:spPr>
        <p:txBody>
          <a:bodyPr wrap="square" lIns="0" tIns="0" rIns="0" bIns="0" rtlCol="0" anchor="ctr"/>
          <a:lstStyle/>
          <a:p>
            <a:pPr marL="0" indent="0">
              <a:buNone/>
            </a:pPr>
            <a:r>
              <a:rPr lang="en-US" sz="1600" i="1" dirty="0">
                <a:solidFill>
                  <a:schemeClr val="accent2"/>
                </a:solidFill>
              </a:rPr>
              <a:t>Discover Better. Organize Smarter. Connect Campus.</a:t>
            </a:r>
            <a:endParaRPr lang="en-US" sz="1600" dirty="0"/>
          </a:p>
        </p:txBody>
      </p:sp>
      <p:sp>
        <p:nvSpPr>
          <p:cNvPr id="6" name="team"/>
          <p:cNvSpPr txBox="1"/>
          <p:nvPr/>
        </p:nvSpPr>
        <p:spPr>
          <a:xfrm>
            <a:off x="640080" y="5257800"/>
            <a:ext cx="5486400" cy="685800"/>
          </a:xfrm>
          <a:prstGeom prst="rect">
            <a:avLst/>
          </a:prstGeom>
          <a:noFill/>
          <a:ln/>
        </p:spPr>
        <p:txBody>
          <a:bodyPr wrap="square" lIns="0" tIns="0" rIns="0" bIns="0" rtlCol="0" anchor="ctr"/>
          <a:lstStyle/>
          <a:p>
            <a:pPr marL="0" indent="0">
              <a:buNone/>
            </a:pPr>
            <a:r>
              <a:rPr lang="en-US" sz="1500" b="1" dirty="0">
                <a:solidFill>
                  <a:schemeClr val="bg1"/>
                </a:solidFill>
              </a:rPr>
              <a:t>Team FNATIC</a:t>
            </a:r>
            <a:endParaRPr lang="en-US" sz="1500" dirty="0"/>
          </a:p>
          <a:p>
            <a:pPr marL="0" indent="0">
              <a:buNone/>
            </a:pPr>
            <a:r>
              <a:rPr lang="en-US" sz="1500" dirty="0">
                <a:solidFill>
                  <a:schemeClr val="accent5"/>
                </a:solidFill>
              </a:rPr>
              <a:t>Abhinava Ashwin R  ·  Divesh N  ·  Leema S  ·  Mrudhula B</a:t>
            </a:r>
            <a:endParaRPr lang="en-US" sz="1500" dirty="0"/>
          </a:p>
        </p:txBody>
      </p:sp>
      <p:sp>
        <p:nvSpPr>
          <p:cNvPr id="7" name="d-home frame"/>
          <p:cNvSpPr/>
          <p:nvPr/>
        </p:nvSpPr>
        <p:spPr>
          <a:xfrm>
            <a:off x="6428232" y="896112"/>
            <a:ext cx="5157216" cy="3271266"/>
          </a:xfrm>
          <a:prstGeom prst="roundRect">
            <a:avLst>
              <a:gd name="adj" fmla="val 3354"/>
            </a:avLst>
          </a:prstGeom>
          <a:solidFill>
            <a:schemeClr val="accent4"/>
          </a:solidFill>
          <a:ln w="9525">
            <a:solidFill>
              <a:srgbClr val="0B0E14"/>
            </a:solidFill>
            <a:prstDash val="solid"/>
          </a:ln>
          <a:effectLst>
            <a:outerShdw blurRad="177800" dist="50800" dir="5400000" algn="bl" rotWithShape="0">
              <a:srgbClr val="000000">
                <a:alpha val="22000"/>
              </a:srgbClr>
            </a:outerShdw>
          </a:effectLst>
        </p:spPr>
      </p:sp>
      <p:pic>
        <p:nvPicPr>
          <p:cNvPr id="8" name="d-home" descr="CampusPulse student home page"/>
          <p:cNvPicPr>
            <a:picLocks noChangeAspect="1"/>
          </p:cNvPicPr>
          <p:nvPr/>
        </p:nvPicPr>
        <p:blipFill>
          <a:blip r:embed="rId3"/>
          <a:stretch>
            <a:fillRect/>
          </a:stretch>
        </p:blipFill>
        <p:spPr>
          <a:xfrm>
            <a:off x="6492240" y="960120"/>
            <a:ext cx="5029200" cy="3143250"/>
          </a:xfrm>
          <a:prstGeom prst="rect">
            <a:avLst/>
          </a:prstGeom>
        </p:spPr>
      </p:pic>
      <p:sp>
        <p:nvSpPr>
          <p:cNvPr id="9" name="d-mobile frame"/>
          <p:cNvSpPr/>
          <p:nvPr/>
        </p:nvSpPr>
        <p:spPr>
          <a:xfrm>
            <a:off x="10232136" y="2825496"/>
            <a:ext cx="1481328" cy="3078011"/>
          </a:xfrm>
          <a:prstGeom prst="roundRect">
            <a:avLst>
              <a:gd name="adj" fmla="val 7407"/>
            </a:avLst>
          </a:prstGeom>
          <a:solidFill>
            <a:schemeClr val="accent4"/>
          </a:solidFill>
          <a:ln w="9525">
            <a:solidFill>
              <a:srgbClr val="0B0E14"/>
            </a:solidFill>
            <a:prstDash val="solid"/>
          </a:ln>
          <a:effectLst>
            <a:outerShdw blurRad="177800" dist="50800" dir="5400000" algn="bl" rotWithShape="0">
              <a:srgbClr val="000000">
                <a:alpha val="22000"/>
              </a:srgbClr>
            </a:outerShdw>
          </a:effectLst>
        </p:spPr>
      </p:sp>
      <p:pic>
        <p:nvPicPr>
          <p:cNvPr id="10" name="d-mobile" descr="CampusPulse on a phone"/>
          <p:cNvPicPr>
            <a:picLocks noChangeAspect="1"/>
          </p:cNvPicPr>
          <p:nvPr/>
        </p:nvPicPr>
        <p:blipFill>
          <a:blip r:embed="rId4"/>
          <a:stretch>
            <a:fillRect/>
          </a:stretch>
        </p:blipFill>
        <p:spPr>
          <a:xfrm>
            <a:off x="10287000" y="2880360"/>
            <a:ext cx="1371600" cy="296828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400" b="1" dirty="0">
                <a:solidFill>
                  <a:schemeClr val="tx1"/>
                </a:solidFill>
              </a:rPr>
              <a:t>Campus events are scattered and manual</a:t>
            </a:r>
            <a:endParaRPr lang="en-US" sz="3400" dirty="0"/>
          </a:p>
        </p:txBody>
      </p:sp>
      <p:sp>
        <p:nvSpPr>
          <p:cNvPr id="3" name="source 1"/>
          <p:cNvSpPr/>
          <p:nvPr/>
        </p:nvSpPr>
        <p:spPr>
          <a:xfrm>
            <a:off x="548640" y="1371600"/>
            <a:ext cx="1965960" cy="457200"/>
          </a:xfrm>
          <a:prstGeom prst="roundRect">
            <a:avLst>
              <a:gd name="adj" fmla="val 50000"/>
            </a:avLst>
          </a:prstGeom>
          <a:solidFill>
            <a:schemeClr val="bg1"/>
          </a:solidFill>
          <a:ln w="9525">
            <a:solidFill>
              <a:srgbClr val="E3E7ED"/>
            </a:solidFill>
            <a:prstDash val="solid"/>
          </a:ln>
        </p:spPr>
      </p:sp>
      <p:sp>
        <p:nvSpPr>
          <p:cNvPr id="4" name="source 1 label"/>
          <p:cNvSpPr txBox="1"/>
          <p:nvPr/>
        </p:nvSpPr>
        <p:spPr>
          <a:xfrm>
            <a:off x="548640" y="1371600"/>
            <a:ext cx="1965960" cy="457200"/>
          </a:xfrm>
          <a:prstGeom prst="rect">
            <a:avLst/>
          </a:prstGeom>
          <a:noFill/>
          <a:ln/>
        </p:spPr>
        <p:txBody>
          <a:bodyPr wrap="square" lIns="0" tIns="0" rIns="0" bIns="0" rtlCol="0" anchor="ctr"/>
          <a:lstStyle/>
          <a:p>
            <a:pPr marL="0" indent="0" algn="ctr">
              <a:buNone/>
            </a:pPr>
            <a:r>
              <a:rPr lang="en-US" sz="1400" dirty="0">
                <a:solidFill>
                  <a:schemeClr val="tx1"/>
                </a:solidFill>
              </a:rPr>
              <a:t>Instagram posts</a:t>
            </a:r>
            <a:endParaRPr lang="en-US" sz="1400" dirty="0"/>
          </a:p>
        </p:txBody>
      </p:sp>
      <p:sp>
        <p:nvSpPr>
          <p:cNvPr id="5" name="source 2"/>
          <p:cNvSpPr/>
          <p:nvPr/>
        </p:nvSpPr>
        <p:spPr>
          <a:xfrm>
            <a:off x="2697480" y="1371600"/>
            <a:ext cx="1965960" cy="457200"/>
          </a:xfrm>
          <a:prstGeom prst="roundRect">
            <a:avLst>
              <a:gd name="adj" fmla="val 50000"/>
            </a:avLst>
          </a:prstGeom>
          <a:solidFill>
            <a:schemeClr val="bg1"/>
          </a:solidFill>
          <a:ln w="9525">
            <a:solidFill>
              <a:srgbClr val="E3E7ED"/>
            </a:solidFill>
            <a:prstDash val="solid"/>
          </a:ln>
        </p:spPr>
      </p:sp>
      <p:sp>
        <p:nvSpPr>
          <p:cNvPr id="6" name="source 2 label"/>
          <p:cNvSpPr txBox="1"/>
          <p:nvPr/>
        </p:nvSpPr>
        <p:spPr>
          <a:xfrm>
            <a:off x="2697480" y="1371600"/>
            <a:ext cx="1965960" cy="457200"/>
          </a:xfrm>
          <a:prstGeom prst="rect">
            <a:avLst/>
          </a:prstGeom>
          <a:noFill/>
          <a:ln/>
        </p:spPr>
        <p:txBody>
          <a:bodyPr wrap="square" lIns="0" tIns="0" rIns="0" bIns="0" rtlCol="0" anchor="ctr"/>
          <a:lstStyle/>
          <a:p>
            <a:pPr marL="0" indent="0" algn="ctr">
              <a:buNone/>
            </a:pPr>
            <a:r>
              <a:rPr lang="en-US" sz="1400" dirty="0">
                <a:solidFill>
                  <a:schemeClr val="tx1"/>
                </a:solidFill>
              </a:rPr>
              <a:t>WhatsApp groups</a:t>
            </a:r>
            <a:endParaRPr lang="en-US" sz="1400" dirty="0"/>
          </a:p>
        </p:txBody>
      </p:sp>
      <p:sp>
        <p:nvSpPr>
          <p:cNvPr id="7" name="source 3"/>
          <p:cNvSpPr/>
          <p:nvPr/>
        </p:nvSpPr>
        <p:spPr>
          <a:xfrm>
            <a:off x="4846320" y="1371600"/>
            <a:ext cx="1965960" cy="457200"/>
          </a:xfrm>
          <a:prstGeom prst="roundRect">
            <a:avLst>
              <a:gd name="adj" fmla="val 50000"/>
            </a:avLst>
          </a:prstGeom>
          <a:solidFill>
            <a:schemeClr val="bg1"/>
          </a:solidFill>
          <a:ln w="9525">
            <a:solidFill>
              <a:srgbClr val="E3E7ED"/>
            </a:solidFill>
            <a:prstDash val="solid"/>
          </a:ln>
        </p:spPr>
      </p:sp>
      <p:sp>
        <p:nvSpPr>
          <p:cNvPr id="8" name="source 3 label"/>
          <p:cNvSpPr txBox="1"/>
          <p:nvPr/>
        </p:nvSpPr>
        <p:spPr>
          <a:xfrm>
            <a:off x="4846320" y="1371600"/>
            <a:ext cx="1965960" cy="457200"/>
          </a:xfrm>
          <a:prstGeom prst="rect">
            <a:avLst/>
          </a:prstGeom>
          <a:noFill/>
          <a:ln/>
        </p:spPr>
        <p:txBody>
          <a:bodyPr wrap="square" lIns="0" tIns="0" rIns="0" bIns="0" rtlCol="0" anchor="ctr"/>
          <a:lstStyle/>
          <a:p>
            <a:pPr marL="0" indent="0" algn="ctr">
              <a:buNone/>
            </a:pPr>
            <a:r>
              <a:rPr lang="en-US" sz="1400" dirty="0">
                <a:solidFill>
                  <a:schemeClr val="tx1"/>
                </a:solidFill>
              </a:rPr>
              <a:t>Paper posters</a:t>
            </a:r>
            <a:endParaRPr lang="en-US" sz="1400" dirty="0"/>
          </a:p>
        </p:txBody>
      </p:sp>
      <p:sp>
        <p:nvSpPr>
          <p:cNvPr id="9" name="source 4"/>
          <p:cNvSpPr/>
          <p:nvPr/>
        </p:nvSpPr>
        <p:spPr>
          <a:xfrm>
            <a:off x="6995160" y="1371600"/>
            <a:ext cx="1965960" cy="457200"/>
          </a:xfrm>
          <a:prstGeom prst="roundRect">
            <a:avLst>
              <a:gd name="adj" fmla="val 50000"/>
            </a:avLst>
          </a:prstGeom>
          <a:solidFill>
            <a:schemeClr val="bg1"/>
          </a:solidFill>
          <a:ln w="9525">
            <a:solidFill>
              <a:srgbClr val="E3E7ED"/>
            </a:solidFill>
            <a:prstDash val="solid"/>
          </a:ln>
        </p:spPr>
      </p:sp>
      <p:sp>
        <p:nvSpPr>
          <p:cNvPr id="10" name="source 4 label"/>
          <p:cNvSpPr txBox="1"/>
          <p:nvPr/>
        </p:nvSpPr>
        <p:spPr>
          <a:xfrm>
            <a:off x="6995160" y="1371600"/>
            <a:ext cx="1965960" cy="457200"/>
          </a:xfrm>
          <a:prstGeom prst="rect">
            <a:avLst/>
          </a:prstGeom>
          <a:noFill/>
          <a:ln/>
        </p:spPr>
        <p:txBody>
          <a:bodyPr wrap="square" lIns="0" tIns="0" rIns="0" bIns="0" rtlCol="0" anchor="ctr"/>
          <a:lstStyle/>
          <a:p>
            <a:pPr marL="0" indent="0" algn="ctr">
              <a:buNone/>
            </a:pPr>
            <a:r>
              <a:rPr lang="en-US" sz="1400" dirty="0">
                <a:solidFill>
                  <a:schemeClr val="tx1"/>
                </a:solidFill>
              </a:rPr>
              <a:t>Google Forms &amp; sheets</a:t>
            </a:r>
            <a:endParaRPr lang="en-US" sz="1400" dirty="0"/>
          </a:p>
        </p:txBody>
      </p:sp>
      <p:sp>
        <p:nvSpPr>
          <p:cNvPr id="11" name="sources result"/>
          <p:cNvSpPr txBox="1"/>
          <p:nvPr/>
        </p:nvSpPr>
        <p:spPr>
          <a:xfrm>
            <a:off x="9189720" y="1325880"/>
            <a:ext cx="2468880" cy="548640"/>
          </a:xfrm>
          <a:prstGeom prst="rect">
            <a:avLst/>
          </a:prstGeom>
          <a:noFill/>
          <a:ln/>
        </p:spPr>
        <p:txBody>
          <a:bodyPr wrap="square" lIns="0" tIns="0" rIns="0" bIns="0" rtlCol="0" anchor="ctr"/>
          <a:lstStyle/>
          <a:p>
            <a:pPr marL="0" indent="0">
              <a:buNone/>
            </a:pPr>
            <a:r>
              <a:rPr lang="en-US" sz="1400" i="1" dirty="0">
                <a:solidFill>
                  <a:schemeClr val="accent2"/>
                </a:solidFill>
              </a:rPr>
              <a:t>= missed events, lost registrations, venue clashes, paperwork</a:t>
            </a:r>
            <a:endParaRPr lang="en-US" sz="1400" dirty="0"/>
          </a:p>
        </p:txBody>
      </p:sp>
      <p:sp>
        <p:nvSpPr>
          <p:cNvPr id="12" name="Students card"/>
          <p:cNvSpPr/>
          <p:nvPr/>
        </p:nvSpPr>
        <p:spPr>
          <a:xfrm>
            <a:off x="548640" y="2148840"/>
            <a:ext cx="5440680" cy="3931920"/>
          </a:xfrm>
          <a:prstGeom prst="roundRect">
            <a:avLst>
              <a:gd name="adj" fmla="val 3256"/>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13" name="Students icon badge"/>
          <p:cNvSpPr/>
          <p:nvPr/>
        </p:nvSpPr>
        <p:spPr>
          <a:xfrm>
            <a:off x="868680" y="2377440"/>
            <a:ext cx="475488" cy="475488"/>
          </a:xfrm>
          <a:prstGeom prst="ellipse">
            <a:avLst/>
          </a:prstGeom>
          <a:solidFill>
            <a:schemeClr val="accent1"/>
          </a:solidFill>
          <a:ln/>
        </p:spPr>
      </p:sp>
      <p:sp>
        <p:nvSpPr>
          <p:cNvPr id="14" name="Students icon"/>
          <p:cNvSpPr txBox="1"/>
          <p:nvPr/>
        </p:nvSpPr>
        <p:spPr>
          <a:xfrm>
            <a:off x="868680" y="2377440"/>
            <a:ext cx="475488" cy="475488"/>
          </a:xfrm>
          <a:prstGeom prst="rect">
            <a:avLst/>
          </a:prstGeom>
          <a:noFill/>
          <a:ln/>
        </p:spPr>
        <p:txBody>
          <a:bodyPr wrap="square" lIns="0" tIns="0" rIns="0" bIns="0" rtlCol="0" anchor="ctr"/>
          <a:lstStyle/>
          <a:p>
            <a:pPr marL="0" indent="0" algn="ctr">
              <a:buNone/>
            </a:pPr>
            <a:r>
              <a:rPr lang="en-US" sz="1600" b="1" dirty="0">
                <a:solidFill>
                  <a:schemeClr val="bg1"/>
                </a:solidFill>
              </a:rPr>
              <a:t>S</a:t>
            </a:r>
            <a:endParaRPr lang="en-US" sz="1600" dirty="0"/>
          </a:p>
        </p:txBody>
      </p:sp>
      <p:sp>
        <p:nvSpPr>
          <p:cNvPr id="15" name="Students heading"/>
          <p:cNvSpPr txBox="1"/>
          <p:nvPr/>
        </p:nvSpPr>
        <p:spPr>
          <a:xfrm>
            <a:off x="1508760" y="2377440"/>
            <a:ext cx="4114800" cy="475488"/>
          </a:xfrm>
          <a:prstGeom prst="rect">
            <a:avLst/>
          </a:prstGeom>
          <a:noFill/>
          <a:ln/>
        </p:spPr>
        <p:txBody>
          <a:bodyPr wrap="square" lIns="0" tIns="0" rIns="0" bIns="0" rtlCol="0" anchor="ctr"/>
          <a:lstStyle/>
          <a:p>
            <a:pPr marL="0" indent="0">
              <a:buNone/>
            </a:pPr>
            <a:r>
              <a:rPr lang="en-US" sz="2200" b="1" dirty="0">
                <a:solidFill>
                  <a:schemeClr val="tx1"/>
                </a:solidFill>
              </a:rPr>
              <a:t>Students</a:t>
            </a:r>
            <a:endParaRPr lang="en-US" sz="2200" dirty="0"/>
          </a:p>
        </p:txBody>
      </p:sp>
      <p:sp>
        <p:nvSpPr>
          <p:cNvPr id="16" name="point 1 dot"/>
          <p:cNvSpPr/>
          <p:nvPr/>
        </p:nvSpPr>
        <p:spPr>
          <a:xfrm>
            <a:off x="914400" y="3218688"/>
            <a:ext cx="182880" cy="182880"/>
          </a:xfrm>
          <a:prstGeom prst="ellipse">
            <a:avLst/>
          </a:prstGeom>
          <a:solidFill>
            <a:schemeClr val="accent1"/>
          </a:solidFill>
          <a:ln/>
        </p:spPr>
      </p:sp>
      <p:sp>
        <p:nvSpPr>
          <p:cNvPr id="17" name="point 1"/>
          <p:cNvSpPr txBox="1"/>
          <p:nvPr/>
        </p:nvSpPr>
        <p:spPr>
          <a:xfrm>
            <a:off x="1261872" y="3154680"/>
            <a:ext cx="4453128" cy="859536"/>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No single place to look</a:t>
            </a:r>
            <a:endParaRPr lang="en-US" sz="1500" dirty="0"/>
          </a:p>
          <a:p>
            <a:pPr marL="0" indent="0">
              <a:spcAft>
                <a:spcPts val="200"/>
              </a:spcAft>
              <a:buNone/>
            </a:pPr>
            <a:r>
              <a:rPr lang="en-US" sz="1500" dirty="0">
                <a:solidFill>
                  <a:schemeClr val="tx2"/>
                </a:solidFill>
              </a:rPr>
              <a:t>Events live in feeds and group chats; deadlines slip by.</a:t>
            </a:r>
            <a:endParaRPr lang="en-US" sz="1500" dirty="0"/>
          </a:p>
        </p:txBody>
      </p:sp>
      <p:sp>
        <p:nvSpPr>
          <p:cNvPr id="18" name="point 2 dot"/>
          <p:cNvSpPr/>
          <p:nvPr/>
        </p:nvSpPr>
        <p:spPr>
          <a:xfrm>
            <a:off x="914400" y="4151376"/>
            <a:ext cx="182880" cy="182880"/>
          </a:xfrm>
          <a:prstGeom prst="ellipse">
            <a:avLst/>
          </a:prstGeom>
          <a:solidFill>
            <a:schemeClr val="accent1"/>
          </a:solidFill>
          <a:ln/>
        </p:spPr>
      </p:sp>
      <p:sp>
        <p:nvSpPr>
          <p:cNvPr id="19" name="point 2"/>
          <p:cNvSpPr txBox="1"/>
          <p:nvPr/>
        </p:nvSpPr>
        <p:spPr>
          <a:xfrm>
            <a:off x="1261872" y="4087368"/>
            <a:ext cx="4453128" cy="859536"/>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Registration is guesswork</a:t>
            </a:r>
            <a:endParaRPr lang="en-US" sz="1500" dirty="0"/>
          </a:p>
          <a:p>
            <a:pPr marL="0" indent="0">
              <a:spcAft>
                <a:spcPts val="200"/>
              </a:spcAft>
              <a:buNone/>
            </a:pPr>
            <a:r>
              <a:rPr lang="en-US" sz="1500" dirty="0">
                <a:solidFill>
                  <a:schemeClr val="tx2"/>
                </a:solidFill>
              </a:rPr>
              <a:t>Forms, DMs and screenshots; no confirmation or ticket.</a:t>
            </a:r>
            <a:endParaRPr lang="en-US" sz="1500" dirty="0"/>
          </a:p>
        </p:txBody>
      </p:sp>
      <p:sp>
        <p:nvSpPr>
          <p:cNvPr id="20" name="point 3 dot"/>
          <p:cNvSpPr/>
          <p:nvPr/>
        </p:nvSpPr>
        <p:spPr>
          <a:xfrm>
            <a:off x="914400" y="5084064"/>
            <a:ext cx="182880" cy="182880"/>
          </a:xfrm>
          <a:prstGeom prst="ellipse">
            <a:avLst/>
          </a:prstGeom>
          <a:solidFill>
            <a:schemeClr val="accent1"/>
          </a:solidFill>
          <a:ln/>
        </p:spPr>
      </p:sp>
      <p:sp>
        <p:nvSpPr>
          <p:cNvPr id="21" name="point 3"/>
          <p:cNvSpPr txBox="1"/>
          <p:nvPr/>
        </p:nvSpPr>
        <p:spPr>
          <a:xfrm>
            <a:off x="1261872" y="5020056"/>
            <a:ext cx="4453128" cy="859536"/>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No reminders, late certificates</a:t>
            </a:r>
            <a:endParaRPr lang="en-US" sz="1500" dirty="0"/>
          </a:p>
          <a:p>
            <a:pPr marL="0" indent="0">
              <a:spcAft>
                <a:spcPts val="200"/>
              </a:spcAft>
              <a:buNone/>
            </a:pPr>
            <a:r>
              <a:rPr lang="en-US" sz="1500" dirty="0">
                <a:solidFill>
                  <a:schemeClr val="tx2"/>
                </a:solidFill>
              </a:rPr>
              <a:t>Venue changes and day-before info get lost; certificates arrive weeks later.</a:t>
            </a:r>
            <a:endParaRPr lang="en-US" sz="1500" dirty="0"/>
          </a:p>
        </p:txBody>
      </p:sp>
      <p:sp>
        <p:nvSpPr>
          <p:cNvPr id="22" name="Organizers card"/>
          <p:cNvSpPr/>
          <p:nvPr/>
        </p:nvSpPr>
        <p:spPr>
          <a:xfrm>
            <a:off x="6172200" y="2148840"/>
            <a:ext cx="5440680" cy="3931920"/>
          </a:xfrm>
          <a:prstGeom prst="roundRect">
            <a:avLst>
              <a:gd name="adj" fmla="val 3256"/>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23" name="Organizers icon badge"/>
          <p:cNvSpPr/>
          <p:nvPr/>
        </p:nvSpPr>
        <p:spPr>
          <a:xfrm>
            <a:off x="6492240" y="2377440"/>
            <a:ext cx="475488" cy="475488"/>
          </a:xfrm>
          <a:prstGeom prst="ellipse">
            <a:avLst/>
          </a:prstGeom>
          <a:solidFill>
            <a:schemeClr val="accent2"/>
          </a:solidFill>
          <a:ln/>
        </p:spPr>
      </p:sp>
      <p:sp>
        <p:nvSpPr>
          <p:cNvPr id="24" name="Organizers icon"/>
          <p:cNvSpPr txBox="1"/>
          <p:nvPr/>
        </p:nvSpPr>
        <p:spPr>
          <a:xfrm>
            <a:off x="6492240" y="2377440"/>
            <a:ext cx="475488" cy="475488"/>
          </a:xfrm>
          <a:prstGeom prst="rect">
            <a:avLst/>
          </a:prstGeom>
          <a:noFill/>
          <a:ln/>
        </p:spPr>
        <p:txBody>
          <a:bodyPr wrap="square" lIns="0" tIns="0" rIns="0" bIns="0" rtlCol="0" anchor="ctr"/>
          <a:lstStyle/>
          <a:p>
            <a:pPr marL="0" indent="0" algn="ctr">
              <a:buNone/>
            </a:pPr>
            <a:r>
              <a:rPr lang="en-US" sz="1600" b="1" dirty="0">
                <a:solidFill>
                  <a:schemeClr val="bg1"/>
                </a:solidFill>
              </a:rPr>
              <a:t>O</a:t>
            </a:r>
            <a:endParaRPr lang="en-US" sz="1600" dirty="0"/>
          </a:p>
        </p:txBody>
      </p:sp>
      <p:sp>
        <p:nvSpPr>
          <p:cNvPr id="25" name="Organizers heading"/>
          <p:cNvSpPr txBox="1"/>
          <p:nvPr/>
        </p:nvSpPr>
        <p:spPr>
          <a:xfrm>
            <a:off x="7132320" y="2377440"/>
            <a:ext cx="4114800" cy="475488"/>
          </a:xfrm>
          <a:prstGeom prst="rect">
            <a:avLst/>
          </a:prstGeom>
          <a:noFill/>
          <a:ln/>
        </p:spPr>
        <p:txBody>
          <a:bodyPr wrap="square" lIns="0" tIns="0" rIns="0" bIns="0" rtlCol="0" anchor="ctr"/>
          <a:lstStyle/>
          <a:p>
            <a:pPr marL="0" indent="0">
              <a:buNone/>
            </a:pPr>
            <a:r>
              <a:rPr lang="en-US" sz="2200" b="1" dirty="0">
                <a:solidFill>
                  <a:schemeClr val="tx1"/>
                </a:solidFill>
              </a:rPr>
              <a:t>Organizers</a:t>
            </a:r>
            <a:endParaRPr lang="en-US" sz="2200" dirty="0"/>
          </a:p>
        </p:txBody>
      </p:sp>
      <p:sp>
        <p:nvSpPr>
          <p:cNvPr id="26" name="point 1 dot"/>
          <p:cNvSpPr/>
          <p:nvPr/>
        </p:nvSpPr>
        <p:spPr>
          <a:xfrm>
            <a:off x="6537960" y="3218688"/>
            <a:ext cx="182880" cy="182880"/>
          </a:xfrm>
          <a:prstGeom prst="ellipse">
            <a:avLst/>
          </a:prstGeom>
          <a:solidFill>
            <a:schemeClr val="accent2"/>
          </a:solidFill>
          <a:ln/>
        </p:spPr>
      </p:sp>
      <p:sp>
        <p:nvSpPr>
          <p:cNvPr id="27" name="point 1"/>
          <p:cNvSpPr txBox="1"/>
          <p:nvPr/>
        </p:nvSpPr>
        <p:spPr>
          <a:xfrm>
            <a:off x="6885432" y="3154680"/>
            <a:ext cx="4453128" cy="859536"/>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Data split across sheets</a:t>
            </a:r>
            <a:endParaRPr lang="en-US" sz="1500" dirty="0"/>
          </a:p>
          <a:p>
            <a:pPr marL="0" indent="0">
              <a:spcAft>
                <a:spcPts val="200"/>
              </a:spcAft>
              <a:buNone/>
            </a:pPr>
            <a:r>
              <a:rPr lang="en-US" sz="1500" dirty="0">
                <a:solidFill>
                  <a:schemeClr val="tx2"/>
                </a:solidFill>
              </a:rPr>
              <a:t>Every event re-invents the form and the spreadsheet.</a:t>
            </a:r>
            <a:endParaRPr lang="en-US" sz="1500" dirty="0"/>
          </a:p>
        </p:txBody>
      </p:sp>
      <p:sp>
        <p:nvSpPr>
          <p:cNvPr id="28" name="point 2 dot"/>
          <p:cNvSpPr/>
          <p:nvPr/>
        </p:nvSpPr>
        <p:spPr>
          <a:xfrm>
            <a:off x="6537960" y="4151376"/>
            <a:ext cx="182880" cy="182880"/>
          </a:xfrm>
          <a:prstGeom prst="ellipse">
            <a:avLst/>
          </a:prstGeom>
          <a:solidFill>
            <a:schemeClr val="accent2"/>
          </a:solidFill>
          <a:ln/>
        </p:spPr>
      </p:sp>
      <p:sp>
        <p:nvSpPr>
          <p:cNvPr id="29" name="point 2"/>
          <p:cNvSpPr txBox="1"/>
          <p:nvPr/>
        </p:nvSpPr>
        <p:spPr>
          <a:xfrm>
            <a:off x="6885432" y="4087368"/>
            <a:ext cx="4453128" cy="859536"/>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Manual payment checks</a:t>
            </a:r>
            <a:endParaRPr lang="en-US" sz="1500" dirty="0"/>
          </a:p>
          <a:p>
            <a:pPr marL="0" indent="0">
              <a:spcAft>
                <a:spcPts val="200"/>
              </a:spcAft>
              <a:buNone/>
            </a:pPr>
            <a:r>
              <a:rPr lang="en-US" sz="1500" dirty="0">
                <a:solidFill>
                  <a:schemeClr val="tx2"/>
                </a:solidFill>
              </a:rPr>
              <a:t>Scrolling UPI history to match screenshots by hand.</a:t>
            </a:r>
            <a:endParaRPr lang="en-US" sz="1500" dirty="0"/>
          </a:p>
        </p:txBody>
      </p:sp>
      <p:sp>
        <p:nvSpPr>
          <p:cNvPr id="30" name="point 3 dot"/>
          <p:cNvSpPr/>
          <p:nvPr/>
        </p:nvSpPr>
        <p:spPr>
          <a:xfrm>
            <a:off x="6537960" y="5084064"/>
            <a:ext cx="182880" cy="182880"/>
          </a:xfrm>
          <a:prstGeom prst="ellipse">
            <a:avLst/>
          </a:prstGeom>
          <a:solidFill>
            <a:schemeClr val="accent2"/>
          </a:solidFill>
          <a:ln/>
        </p:spPr>
      </p:sp>
      <p:sp>
        <p:nvSpPr>
          <p:cNvPr id="31" name="point 3"/>
          <p:cNvSpPr txBox="1"/>
          <p:nvPr/>
        </p:nvSpPr>
        <p:spPr>
          <a:xfrm>
            <a:off x="6885432" y="5020056"/>
            <a:ext cx="4453128" cy="859536"/>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Clashes, paper approvals, no numbers</a:t>
            </a:r>
            <a:endParaRPr lang="en-US" sz="1500" dirty="0"/>
          </a:p>
          <a:p>
            <a:pPr marL="0" indent="0">
              <a:spcAft>
                <a:spcPts val="200"/>
              </a:spcAft>
              <a:buNone/>
            </a:pPr>
            <a:r>
              <a:rPr lang="en-US" sz="1500" dirty="0">
                <a:solidFill>
                  <a:schemeClr val="tx2"/>
                </a:solidFill>
              </a:rPr>
              <a:t>Venues double-booked, approvals on paper, no live attendance.</a:t>
            </a:r>
            <a:endParaRPr lang="en-US" sz="1500" dirty="0"/>
          </a:p>
        </p:txBody>
      </p:sp>
      <p:sp>
        <p:nvSpPr>
          <p:cNvPr id="3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400" b="1" dirty="0">
                <a:solidFill>
                  <a:schemeClr val="tx1"/>
                </a:solidFill>
              </a:rPr>
              <a:t>One platform, three roles</a:t>
            </a:r>
            <a:endParaRPr lang="en-US" sz="3400" dirty="0"/>
          </a:p>
        </p:txBody>
      </p:sp>
      <p:sp>
        <p:nvSpPr>
          <p:cNvPr id="3" name="Student card"/>
          <p:cNvSpPr/>
          <p:nvPr/>
        </p:nvSpPr>
        <p:spPr>
          <a:xfrm>
            <a:off x="548640" y="1371600"/>
            <a:ext cx="3566160" cy="4709160"/>
          </a:xfrm>
          <a:prstGeom prst="roundRect">
            <a:avLst>
              <a:gd name="adj" fmla="val 3590"/>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4" name="Student number badge"/>
          <p:cNvSpPr/>
          <p:nvPr/>
        </p:nvSpPr>
        <p:spPr>
          <a:xfrm>
            <a:off x="822960" y="1600200"/>
            <a:ext cx="475488" cy="475488"/>
          </a:xfrm>
          <a:prstGeom prst="ellipse">
            <a:avLst/>
          </a:prstGeom>
          <a:solidFill>
            <a:schemeClr val="accent1"/>
          </a:solidFill>
          <a:ln/>
        </p:spPr>
      </p:sp>
      <p:sp>
        <p:nvSpPr>
          <p:cNvPr id="5" name="Student number"/>
          <p:cNvSpPr txBox="1"/>
          <p:nvPr/>
        </p:nvSpPr>
        <p:spPr>
          <a:xfrm>
            <a:off x="822960" y="1600200"/>
            <a:ext cx="475488" cy="475488"/>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Student heading"/>
          <p:cNvSpPr txBox="1"/>
          <p:nvPr/>
        </p:nvSpPr>
        <p:spPr>
          <a:xfrm>
            <a:off x="1417320" y="1536192"/>
            <a:ext cx="2560320" cy="685800"/>
          </a:xfrm>
          <a:prstGeom prst="rect">
            <a:avLst/>
          </a:prstGeom>
          <a:noFill/>
          <a:ln/>
        </p:spPr>
        <p:txBody>
          <a:bodyPr wrap="square" lIns="0" tIns="0" rIns="0" bIns="0" rtlCol="0" anchor="ctr"/>
          <a:lstStyle/>
          <a:p>
            <a:pPr marL="0" indent="0">
              <a:buNone/>
            </a:pPr>
            <a:r>
              <a:rPr lang="en-US" sz="2000" b="1" dirty="0">
                <a:solidFill>
                  <a:schemeClr val="tx1"/>
                </a:solidFill>
              </a:rPr>
              <a:t>Student</a:t>
            </a:r>
            <a:endParaRPr lang="en-US" sz="2000" dirty="0"/>
          </a:p>
          <a:p>
            <a:pPr marL="0" indent="0">
              <a:buNone/>
            </a:pPr>
            <a:r>
              <a:rPr lang="en-US" sz="1400" dirty="0">
                <a:solidFill>
                  <a:schemeClr val="tx2"/>
                </a:solidFill>
              </a:rPr>
              <a:t>Finds, registers, attends</a:t>
            </a:r>
            <a:endParaRPr lang="en-US" sz="2000" dirty="0"/>
          </a:p>
        </p:txBody>
      </p:sp>
      <p:sp>
        <p:nvSpPr>
          <p:cNvPr id="7" name="point 1 dot"/>
          <p:cNvSpPr/>
          <p:nvPr/>
        </p:nvSpPr>
        <p:spPr>
          <a:xfrm>
            <a:off x="822960" y="2578608"/>
            <a:ext cx="182880" cy="182880"/>
          </a:xfrm>
          <a:prstGeom prst="ellipse">
            <a:avLst/>
          </a:prstGeom>
          <a:solidFill>
            <a:schemeClr val="accent1"/>
          </a:solidFill>
          <a:ln/>
        </p:spPr>
      </p:sp>
      <p:sp>
        <p:nvSpPr>
          <p:cNvPr id="8" name="point 1"/>
          <p:cNvSpPr txBox="1"/>
          <p:nvPr/>
        </p:nvSpPr>
        <p:spPr>
          <a:xfrm>
            <a:off x="1170432" y="2514600"/>
            <a:ext cx="2761488" cy="79552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Sign up once</a:t>
            </a:r>
            <a:endParaRPr lang="en-US" sz="1500" dirty="0"/>
          </a:p>
          <a:p>
            <a:pPr marL="0" indent="0">
              <a:spcAft>
                <a:spcPts val="200"/>
              </a:spcAft>
              <a:buNone/>
            </a:pPr>
            <a:r>
              <a:rPr lang="en-US" sz="1500" dirty="0">
                <a:solidFill>
                  <a:schemeClr val="tx2"/>
                </a:solidFill>
              </a:rPr>
              <a:t>Register no. + college; gets a unique CampusPulse ID</a:t>
            </a:r>
            <a:endParaRPr lang="en-US" sz="1500" dirty="0"/>
          </a:p>
        </p:txBody>
      </p:sp>
      <p:sp>
        <p:nvSpPr>
          <p:cNvPr id="9" name="point 2 dot"/>
          <p:cNvSpPr/>
          <p:nvPr/>
        </p:nvSpPr>
        <p:spPr>
          <a:xfrm>
            <a:off x="822960" y="3447288"/>
            <a:ext cx="182880" cy="182880"/>
          </a:xfrm>
          <a:prstGeom prst="ellipse">
            <a:avLst/>
          </a:prstGeom>
          <a:solidFill>
            <a:schemeClr val="accent1"/>
          </a:solidFill>
          <a:ln/>
        </p:spPr>
      </p:sp>
      <p:sp>
        <p:nvSpPr>
          <p:cNvPr id="10" name="point 2"/>
          <p:cNvSpPr txBox="1"/>
          <p:nvPr/>
        </p:nvSpPr>
        <p:spPr>
          <a:xfrm>
            <a:off x="1170432" y="3383280"/>
            <a:ext cx="2761488" cy="79552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Discover &amp; register</a:t>
            </a:r>
            <a:endParaRPr lang="en-US" sz="1500" dirty="0"/>
          </a:p>
          <a:p>
            <a:pPr marL="0" indent="0">
              <a:spcAft>
                <a:spcPts val="200"/>
              </a:spcAft>
              <a:buNone/>
            </a:pPr>
            <a:r>
              <a:rPr lang="en-US" sz="1500" dirty="0">
                <a:solidFill>
                  <a:schemeClr val="tx2"/>
                </a:solidFill>
              </a:rPr>
              <a:t>Search, filter, register a team</a:t>
            </a:r>
            <a:endParaRPr lang="en-US" sz="1500" dirty="0"/>
          </a:p>
        </p:txBody>
      </p:sp>
      <p:sp>
        <p:nvSpPr>
          <p:cNvPr id="11" name="point 3 dot"/>
          <p:cNvSpPr/>
          <p:nvPr/>
        </p:nvSpPr>
        <p:spPr>
          <a:xfrm>
            <a:off x="822960" y="4315968"/>
            <a:ext cx="182880" cy="182880"/>
          </a:xfrm>
          <a:prstGeom prst="ellipse">
            <a:avLst/>
          </a:prstGeom>
          <a:solidFill>
            <a:schemeClr val="accent1"/>
          </a:solidFill>
          <a:ln/>
        </p:spPr>
      </p:sp>
      <p:sp>
        <p:nvSpPr>
          <p:cNvPr id="12" name="point 3"/>
          <p:cNvSpPr txBox="1"/>
          <p:nvPr/>
        </p:nvSpPr>
        <p:spPr>
          <a:xfrm>
            <a:off x="1170432" y="4251960"/>
            <a:ext cx="2761488" cy="79552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Pay &amp; get a QR pass</a:t>
            </a:r>
            <a:endParaRPr lang="en-US" sz="1500" dirty="0"/>
          </a:p>
          <a:p>
            <a:pPr marL="0" indent="0">
              <a:spcAft>
                <a:spcPts val="200"/>
              </a:spcAft>
              <a:buNone/>
            </a:pPr>
            <a:r>
              <a:rPr lang="en-US" sz="1500" dirty="0">
                <a:solidFill>
                  <a:schemeClr val="tx2"/>
                </a:solidFill>
              </a:rPr>
              <a:t>Club's UPI QR, transaction ID</a:t>
            </a:r>
            <a:endParaRPr lang="en-US" sz="1500" dirty="0"/>
          </a:p>
        </p:txBody>
      </p:sp>
      <p:sp>
        <p:nvSpPr>
          <p:cNvPr id="13" name="point 4 dot"/>
          <p:cNvSpPr/>
          <p:nvPr/>
        </p:nvSpPr>
        <p:spPr>
          <a:xfrm>
            <a:off x="822960" y="5184648"/>
            <a:ext cx="182880" cy="182880"/>
          </a:xfrm>
          <a:prstGeom prst="ellipse">
            <a:avLst/>
          </a:prstGeom>
          <a:solidFill>
            <a:schemeClr val="accent1"/>
          </a:solidFill>
          <a:ln/>
        </p:spPr>
      </p:sp>
      <p:sp>
        <p:nvSpPr>
          <p:cNvPr id="14" name="point 4"/>
          <p:cNvSpPr txBox="1"/>
          <p:nvPr/>
        </p:nvSpPr>
        <p:spPr>
          <a:xfrm>
            <a:off x="1170432" y="5120640"/>
            <a:ext cx="2761488" cy="79552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Certificates</a:t>
            </a:r>
            <a:endParaRPr lang="en-US" sz="1500" dirty="0"/>
          </a:p>
          <a:p>
            <a:pPr marL="0" indent="0">
              <a:spcAft>
                <a:spcPts val="200"/>
              </a:spcAft>
              <a:buNone/>
            </a:pPr>
            <a:r>
              <a:rPr lang="en-US" sz="1500" dirty="0">
                <a:solidFill>
                  <a:schemeClr val="tx2"/>
                </a:solidFill>
              </a:rPr>
              <a:t>Delivered to the team leader</a:t>
            </a:r>
            <a:endParaRPr lang="en-US" sz="1500" dirty="0"/>
          </a:p>
        </p:txBody>
      </p:sp>
      <p:sp>
        <p:nvSpPr>
          <p:cNvPr id="15" name="Club / Dept admin card"/>
          <p:cNvSpPr/>
          <p:nvPr/>
        </p:nvSpPr>
        <p:spPr>
          <a:xfrm>
            <a:off x="4297680" y="1371600"/>
            <a:ext cx="3566160" cy="4709160"/>
          </a:xfrm>
          <a:prstGeom prst="roundRect">
            <a:avLst>
              <a:gd name="adj" fmla="val 3590"/>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16" name="Club / Dept admin number badge"/>
          <p:cNvSpPr/>
          <p:nvPr/>
        </p:nvSpPr>
        <p:spPr>
          <a:xfrm>
            <a:off x="4572000" y="1600200"/>
            <a:ext cx="475488" cy="475488"/>
          </a:xfrm>
          <a:prstGeom prst="ellipse">
            <a:avLst/>
          </a:prstGeom>
          <a:solidFill>
            <a:schemeClr val="accent2"/>
          </a:solidFill>
          <a:ln/>
        </p:spPr>
      </p:sp>
      <p:sp>
        <p:nvSpPr>
          <p:cNvPr id="17" name="Club / Dept admin number"/>
          <p:cNvSpPr txBox="1"/>
          <p:nvPr/>
        </p:nvSpPr>
        <p:spPr>
          <a:xfrm>
            <a:off x="4572000" y="1600200"/>
            <a:ext cx="475488" cy="475488"/>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8" name="Club / Dept admin heading"/>
          <p:cNvSpPr txBox="1"/>
          <p:nvPr/>
        </p:nvSpPr>
        <p:spPr>
          <a:xfrm>
            <a:off x="5166360" y="1536192"/>
            <a:ext cx="2560320" cy="685800"/>
          </a:xfrm>
          <a:prstGeom prst="rect">
            <a:avLst/>
          </a:prstGeom>
          <a:noFill/>
          <a:ln/>
        </p:spPr>
        <p:txBody>
          <a:bodyPr wrap="square" lIns="0" tIns="0" rIns="0" bIns="0" rtlCol="0" anchor="ctr"/>
          <a:lstStyle/>
          <a:p>
            <a:pPr marL="0" indent="0">
              <a:buNone/>
            </a:pPr>
            <a:r>
              <a:rPr lang="en-US" sz="2000" b="1" dirty="0">
                <a:solidFill>
                  <a:schemeClr val="tx1"/>
                </a:solidFill>
              </a:rPr>
              <a:t>Club / Dept admin</a:t>
            </a:r>
            <a:endParaRPr lang="en-US" sz="2000" dirty="0"/>
          </a:p>
          <a:p>
            <a:pPr marL="0" indent="0">
              <a:buNone/>
            </a:pPr>
            <a:r>
              <a:rPr lang="en-US" sz="1400" dirty="0">
                <a:solidFill>
                  <a:schemeClr val="tx2"/>
                </a:solidFill>
              </a:rPr>
              <a:t>Hosts the event</a:t>
            </a:r>
            <a:endParaRPr lang="en-US" sz="2000" dirty="0"/>
          </a:p>
        </p:txBody>
      </p:sp>
      <p:sp>
        <p:nvSpPr>
          <p:cNvPr id="19" name="point 1 dot"/>
          <p:cNvSpPr/>
          <p:nvPr/>
        </p:nvSpPr>
        <p:spPr>
          <a:xfrm>
            <a:off x="4572000" y="2578608"/>
            <a:ext cx="182880" cy="182880"/>
          </a:xfrm>
          <a:prstGeom prst="ellipse">
            <a:avLst/>
          </a:prstGeom>
          <a:solidFill>
            <a:schemeClr val="accent2"/>
          </a:solidFill>
          <a:ln/>
        </p:spPr>
      </p:sp>
      <p:sp>
        <p:nvSpPr>
          <p:cNvPr id="20" name="point 1"/>
          <p:cNvSpPr txBox="1"/>
          <p:nvPr/>
        </p:nvSpPr>
        <p:spPr>
          <a:xfrm>
            <a:off x="4919472" y="2514600"/>
            <a:ext cx="2761488" cy="79552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Create events</a:t>
            </a:r>
            <a:endParaRPr lang="en-US" sz="1500" dirty="0"/>
          </a:p>
          <a:p>
            <a:pPr marL="0" indent="0">
              <a:spcAft>
                <a:spcPts val="200"/>
              </a:spcAft>
              <a:buNone/>
            </a:pPr>
            <a:r>
              <a:rPr lang="en-US" sz="1500" dirty="0">
                <a:solidFill>
                  <a:schemeClr val="tx2"/>
                </a:solidFill>
              </a:rPr>
              <a:t>Poster, rules, venue, fee, payment QR</a:t>
            </a:r>
            <a:endParaRPr lang="en-US" sz="1500" dirty="0"/>
          </a:p>
        </p:txBody>
      </p:sp>
      <p:sp>
        <p:nvSpPr>
          <p:cNvPr id="21" name="point 2 dot"/>
          <p:cNvSpPr/>
          <p:nvPr/>
        </p:nvSpPr>
        <p:spPr>
          <a:xfrm>
            <a:off x="4572000" y="3447288"/>
            <a:ext cx="182880" cy="182880"/>
          </a:xfrm>
          <a:prstGeom prst="ellipse">
            <a:avLst/>
          </a:prstGeom>
          <a:solidFill>
            <a:schemeClr val="accent2"/>
          </a:solidFill>
          <a:ln/>
        </p:spPr>
      </p:sp>
      <p:sp>
        <p:nvSpPr>
          <p:cNvPr id="22" name="point 2"/>
          <p:cNvSpPr txBox="1"/>
          <p:nvPr/>
        </p:nvSpPr>
        <p:spPr>
          <a:xfrm>
            <a:off x="4919472" y="3383280"/>
            <a:ext cx="2761488" cy="79552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Verify payments</a:t>
            </a:r>
            <a:endParaRPr lang="en-US" sz="1500" dirty="0"/>
          </a:p>
          <a:p>
            <a:pPr marL="0" indent="0">
              <a:spcAft>
                <a:spcPts val="200"/>
              </a:spcAft>
              <a:buNone/>
            </a:pPr>
            <a:r>
              <a:rPr lang="en-US" sz="1500" dirty="0">
                <a:solidFill>
                  <a:schemeClr val="tx2"/>
                </a:solidFill>
              </a:rPr>
              <a:t>Approve or reject with a reason</a:t>
            </a:r>
            <a:endParaRPr lang="en-US" sz="1500" dirty="0"/>
          </a:p>
        </p:txBody>
      </p:sp>
      <p:sp>
        <p:nvSpPr>
          <p:cNvPr id="23" name="point 3 dot"/>
          <p:cNvSpPr/>
          <p:nvPr/>
        </p:nvSpPr>
        <p:spPr>
          <a:xfrm>
            <a:off x="4572000" y="4315968"/>
            <a:ext cx="182880" cy="182880"/>
          </a:xfrm>
          <a:prstGeom prst="ellipse">
            <a:avLst/>
          </a:prstGeom>
          <a:solidFill>
            <a:schemeClr val="accent2"/>
          </a:solidFill>
          <a:ln/>
        </p:spPr>
      </p:sp>
      <p:sp>
        <p:nvSpPr>
          <p:cNvPr id="24" name="point 3"/>
          <p:cNvSpPr txBox="1"/>
          <p:nvPr/>
        </p:nvSpPr>
        <p:spPr>
          <a:xfrm>
            <a:off x="4919472" y="4251960"/>
            <a:ext cx="2761488" cy="79552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Check in by QR</a:t>
            </a:r>
            <a:endParaRPr lang="en-US" sz="1500" dirty="0"/>
          </a:p>
          <a:p>
            <a:pPr marL="0" indent="0">
              <a:spcAft>
                <a:spcPts val="200"/>
              </a:spcAft>
              <a:buNone/>
            </a:pPr>
            <a:r>
              <a:rPr lang="en-US" sz="1500" dirty="0">
                <a:solidFill>
                  <a:schemeClr val="tx2"/>
                </a:solidFill>
              </a:rPr>
              <a:t>Live attendance at the gate</a:t>
            </a:r>
            <a:endParaRPr lang="en-US" sz="1500" dirty="0"/>
          </a:p>
        </p:txBody>
      </p:sp>
      <p:sp>
        <p:nvSpPr>
          <p:cNvPr id="25" name="point 4 dot"/>
          <p:cNvSpPr/>
          <p:nvPr/>
        </p:nvSpPr>
        <p:spPr>
          <a:xfrm>
            <a:off x="4572000" y="5184648"/>
            <a:ext cx="182880" cy="182880"/>
          </a:xfrm>
          <a:prstGeom prst="ellipse">
            <a:avLst/>
          </a:prstGeom>
          <a:solidFill>
            <a:schemeClr val="accent2"/>
          </a:solidFill>
          <a:ln/>
        </p:spPr>
      </p:sp>
      <p:sp>
        <p:nvSpPr>
          <p:cNvPr id="26" name="point 4"/>
          <p:cNvSpPr txBox="1"/>
          <p:nvPr/>
        </p:nvSpPr>
        <p:spPr>
          <a:xfrm>
            <a:off x="4919472" y="5120640"/>
            <a:ext cx="2761488" cy="79552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Export &amp; certify</a:t>
            </a:r>
            <a:endParaRPr lang="en-US" sz="1500" dirty="0"/>
          </a:p>
          <a:p>
            <a:pPr marL="0" indent="0">
              <a:spcAft>
                <a:spcPts val="200"/>
              </a:spcAft>
              <a:buNone/>
            </a:pPr>
            <a:r>
              <a:rPr lang="en-US" sz="1500" dirty="0">
                <a:solidFill>
                  <a:schemeClr val="tx2"/>
                </a:solidFill>
              </a:rPr>
              <a:t>Excel sheets, feedback, certificates</a:t>
            </a:r>
            <a:endParaRPr lang="en-US" sz="1500" dirty="0"/>
          </a:p>
        </p:txBody>
      </p:sp>
      <p:sp>
        <p:nvSpPr>
          <p:cNvPr id="27" name="Portal admin card"/>
          <p:cNvSpPr/>
          <p:nvPr/>
        </p:nvSpPr>
        <p:spPr>
          <a:xfrm>
            <a:off x="8046720" y="1371600"/>
            <a:ext cx="3566160" cy="4709160"/>
          </a:xfrm>
          <a:prstGeom prst="roundRect">
            <a:avLst>
              <a:gd name="adj" fmla="val 3590"/>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28" name="Portal admin number badge"/>
          <p:cNvSpPr/>
          <p:nvPr/>
        </p:nvSpPr>
        <p:spPr>
          <a:xfrm>
            <a:off x="8321040" y="1600200"/>
            <a:ext cx="475488" cy="475488"/>
          </a:xfrm>
          <a:prstGeom prst="ellipse">
            <a:avLst/>
          </a:prstGeom>
          <a:solidFill>
            <a:schemeClr val="accent3"/>
          </a:solidFill>
          <a:ln/>
        </p:spPr>
      </p:sp>
      <p:sp>
        <p:nvSpPr>
          <p:cNvPr id="29" name="Portal admin number"/>
          <p:cNvSpPr txBox="1"/>
          <p:nvPr/>
        </p:nvSpPr>
        <p:spPr>
          <a:xfrm>
            <a:off x="8321040" y="1600200"/>
            <a:ext cx="475488" cy="475488"/>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30" name="Portal admin heading"/>
          <p:cNvSpPr txBox="1"/>
          <p:nvPr/>
        </p:nvSpPr>
        <p:spPr>
          <a:xfrm>
            <a:off x="8915400" y="1536192"/>
            <a:ext cx="2560320" cy="685800"/>
          </a:xfrm>
          <a:prstGeom prst="rect">
            <a:avLst/>
          </a:prstGeom>
          <a:noFill/>
          <a:ln/>
        </p:spPr>
        <p:txBody>
          <a:bodyPr wrap="square" lIns="0" tIns="0" rIns="0" bIns="0" rtlCol="0" anchor="ctr"/>
          <a:lstStyle/>
          <a:p>
            <a:pPr marL="0" indent="0">
              <a:buNone/>
            </a:pPr>
            <a:r>
              <a:rPr lang="en-US" sz="2000" b="1" dirty="0">
                <a:solidFill>
                  <a:schemeClr val="tx1"/>
                </a:solidFill>
              </a:rPr>
              <a:t>Portal admin</a:t>
            </a:r>
            <a:endParaRPr lang="en-US" sz="2000" dirty="0"/>
          </a:p>
          <a:p>
            <a:pPr marL="0" indent="0">
              <a:buNone/>
            </a:pPr>
            <a:r>
              <a:rPr lang="en-US" sz="1400" dirty="0">
                <a:solidFill>
                  <a:schemeClr val="tx2"/>
                </a:solidFill>
              </a:rPr>
              <a:t>Governs the portal</a:t>
            </a:r>
            <a:endParaRPr lang="en-US" sz="2000" dirty="0"/>
          </a:p>
        </p:txBody>
      </p:sp>
      <p:sp>
        <p:nvSpPr>
          <p:cNvPr id="31" name="point 1 dot"/>
          <p:cNvSpPr/>
          <p:nvPr/>
        </p:nvSpPr>
        <p:spPr>
          <a:xfrm>
            <a:off x="8321040" y="2578608"/>
            <a:ext cx="182880" cy="182880"/>
          </a:xfrm>
          <a:prstGeom prst="ellipse">
            <a:avLst/>
          </a:prstGeom>
          <a:solidFill>
            <a:schemeClr val="accent3"/>
          </a:solidFill>
          <a:ln/>
        </p:spPr>
      </p:sp>
      <p:sp>
        <p:nvSpPr>
          <p:cNvPr id="32" name="point 1"/>
          <p:cNvSpPr txBox="1"/>
          <p:nvPr/>
        </p:nvSpPr>
        <p:spPr>
          <a:xfrm>
            <a:off x="8668512" y="2514600"/>
            <a:ext cx="2761488" cy="79552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Approve events</a:t>
            </a:r>
            <a:endParaRPr lang="en-US" sz="1500" dirty="0"/>
          </a:p>
          <a:p>
            <a:pPr marL="0" indent="0">
              <a:spcAft>
                <a:spcPts val="200"/>
              </a:spcAft>
              <a:buNone/>
            </a:pPr>
            <a:r>
              <a:rPr lang="en-US" sz="1500" dirty="0">
                <a:solidFill>
                  <a:schemeClr val="tx2"/>
                </a:solidFill>
              </a:rPr>
              <a:t>Request changes with notes</a:t>
            </a:r>
            <a:endParaRPr lang="en-US" sz="1500" dirty="0"/>
          </a:p>
        </p:txBody>
      </p:sp>
      <p:sp>
        <p:nvSpPr>
          <p:cNvPr id="33" name="point 2 dot"/>
          <p:cNvSpPr/>
          <p:nvPr/>
        </p:nvSpPr>
        <p:spPr>
          <a:xfrm>
            <a:off x="8321040" y="3447288"/>
            <a:ext cx="182880" cy="182880"/>
          </a:xfrm>
          <a:prstGeom prst="ellipse">
            <a:avLst/>
          </a:prstGeom>
          <a:solidFill>
            <a:schemeClr val="accent3"/>
          </a:solidFill>
          <a:ln/>
        </p:spPr>
      </p:sp>
      <p:sp>
        <p:nvSpPr>
          <p:cNvPr id="34" name="point 2"/>
          <p:cNvSpPr txBox="1"/>
          <p:nvPr/>
        </p:nvSpPr>
        <p:spPr>
          <a:xfrm>
            <a:off x="8668512" y="3383280"/>
            <a:ext cx="2761488" cy="79552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Create clubs &amp; admins</a:t>
            </a:r>
            <a:endParaRPr lang="en-US" sz="1500" dirty="0"/>
          </a:p>
          <a:p>
            <a:pPr marL="0" indent="0">
              <a:spcAft>
                <a:spcPts val="200"/>
              </a:spcAft>
              <a:buNone/>
            </a:pPr>
            <a:r>
              <a:rPr lang="en-US" sz="1500" dirty="0">
                <a:solidFill>
                  <a:schemeClr val="tx2"/>
                </a:solidFill>
              </a:rPr>
              <a:t>Department-wise logins</a:t>
            </a:r>
            <a:endParaRPr lang="en-US" sz="1500" dirty="0"/>
          </a:p>
        </p:txBody>
      </p:sp>
      <p:sp>
        <p:nvSpPr>
          <p:cNvPr id="35" name="point 3 dot"/>
          <p:cNvSpPr/>
          <p:nvPr/>
        </p:nvSpPr>
        <p:spPr>
          <a:xfrm>
            <a:off x="8321040" y="4315968"/>
            <a:ext cx="182880" cy="182880"/>
          </a:xfrm>
          <a:prstGeom prst="ellipse">
            <a:avLst/>
          </a:prstGeom>
          <a:solidFill>
            <a:schemeClr val="accent3"/>
          </a:solidFill>
          <a:ln/>
        </p:spPr>
      </p:sp>
      <p:sp>
        <p:nvSpPr>
          <p:cNvPr id="36" name="point 3"/>
          <p:cNvSpPr txBox="1"/>
          <p:nvPr/>
        </p:nvSpPr>
        <p:spPr>
          <a:xfrm>
            <a:off x="8668512" y="4251960"/>
            <a:ext cx="2761488" cy="79552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Complaints inbox</a:t>
            </a:r>
            <a:endParaRPr lang="en-US" sz="1500" dirty="0"/>
          </a:p>
          <a:p>
            <a:pPr marL="0" indent="0">
              <a:spcAft>
                <a:spcPts val="200"/>
              </a:spcAft>
              <a:buNone/>
            </a:pPr>
            <a:r>
              <a:rPr lang="en-US" sz="1500" dirty="0">
                <a:solidFill>
                  <a:schemeClr val="tx2"/>
                </a:solidFill>
              </a:rPr>
              <a:t>Requests from club admins</a:t>
            </a:r>
            <a:endParaRPr lang="en-US" sz="1500" dirty="0"/>
          </a:p>
        </p:txBody>
      </p:sp>
      <p:sp>
        <p:nvSpPr>
          <p:cNvPr id="37" name="point 4 dot"/>
          <p:cNvSpPr/>
          <p:nvPr/>
        </p:nvSpPr>
        <p:spPr>
          <a:xfrm>
            <a:off x="8321040" y="5184648"/>
            <a:ext cx="182880" cy="182880"/>
          </a:xfrm>
          <a:prstGeom prst="ellipse">
            <a:avLst/>
          </a:prstGeom>
          <a:solidFill>
            <a:schemeClr val="accent3"/>
          </a:solidFill>
          <a:ln/>
        </p:spPr>
      </p:sp>
      <p:sp>
        <p:nvSpPr>
          <p:cNvPr id="38" name="point 4"/>
          <p:cNvSpPr txBox="1"/>
          <p:nvPr/>
        </p:nvSpPr>
        <p:spPr>
          <a:xfrm>
            <a:off x="8668512" y="5120640"/>
            <a:ext cx="2761488" cy="79552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Control</a:t>
            </a:r>
            <a:endParaRPr lang="en-US" sz="1500" dirty="0"/>
          </a:p>
          <a:p>
            <a:pPr marL="0" indent="0">
              <a:spcAft>
                <a:spcPts val="200"/>
              </a:spcAft>
              <a:buNone/>
            </a:pPr>
            <a:r>
              <a:rPr lang="en-US" sz="1500" dirty="0">
                <a:solidFill>
                  <a:schemeClr val="tx2"/>
                </a:solidFill>
              </a:rPr>
              <a:t>Broadcasts, suspend, reset passwords</a:t>
            </a:r>
            <a:endParaRPr lang="en-US" sz="1500" dirty="0"/>
          </a:p>
        </p:txBody>
      </p:sp>
      <p:sp>
        <p:nvSpPr>
          <p:cNvPr id="39"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400" b="1" dirty="0">
                <a:solidFill>
                  <a:schemeClr val="tx1"/>
                </a:solidFill>
              </a:rPr>
              <a:t>From poster upload to live attendance, end to end</a:t>
            </a:r>
            <a:endParaRPr lang="en-US" sz="3400" dirty="0"/>
          </a:p>
        </p:txBody>
      </p:sp>
      <p:sp>
        <p:nvSpPr>
          <p:cNvPr id="3" name="flow line"/>
          <p:cNvSpPr/>
          <p:nvPr/>
        </p:nvSpPr>
        <p:spPr>
          <a:xfrm>
            <a:off x="1338943" y="2606040"/>
            <a:ext cx="9483634" cy="0"/>
          </a:xfrm>
          <a:prstGeom prst="line">
            <a:avLst/>
          </a:prstGeom>
          <a:noFill/>
          <a:ln w="31750">
            <a:solidFill>
              <a:srgbClr val="E3E7ED"/>
            </a:solidFill>
            <a:prstDash val="solid"/>
          </a:ln>
        </p:spPr>
      </p:sp>
      <p:sp>
        <p:nvSpPr>
          <p:cNvPr id="4" name="step 1 circle"/>
          <p:cNvSpPr/>
          <p:nvPr/>
        </p:nvSpPr>
        <p:spPr>
          <a:xfrm>
            <a:off x="954895" y="2221992"/>
            <a:ext cx="768096" cy="768096"/>
          </a:xfrm>
          <a:prstGeom prst="ellipse">
            <a:avLst/>
          </a:prstGeom>
          <a:solidFill>
            <a:schemeClr val="accent2"/>
          </a:solidFill>
          <a:ln w="50800">
            <a:solidFill>
              <a:srgbClr val="F4F6F9"/>
            </a:solidFill>
            <a:prstDash val="solid"/>
          </a:ln>
        </p:spPr>
      </p:sp>
      <p:sp>
        <p:nvSpPr>
          <p:cNvPr id="5" name="step 1 number"/>
          <p:cNvSpPr txBox="1"/>
          <p:nvPr/>
        </p:nvSpPr>
        <p:spPr>
          <a:xfrm>
            <a:off x="954895" y="2221992"/>
            <a:ext cx="768096" cy="768096"/>
          </a:xfrm>
          <a:prstGeom prst="rect">
            <a:avLst/>
          </a:prstGeom>
          <a:no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6" name="step 1 actor"/>
          <p:cNvSpPr txBox="1"/>
          <p:nvPr/>
        </p:nvSpPr>
        <p:spPr>
          <a:xfrm>
            <a:off x="548640" y="1645920"/>
            <a:ext cx="1580606" cy="320040"/>
          </a:xfrm>
          <a:prstGeom prst="rect">
            <a:avLst/>
          </a:prstGeom>
          <a:noFill/>
          <a:ln/>
        </p:spPr>
        <p:txBody>
          <a:bodyPr wrap="square" lIns="0" tIns="0" rIns="0" bIns="0" rtlCol="0" anchor="ctr"/>
          <a:lstStyle/>
          <a:p>
            <a:pPr marL="0" indent="0" algn="ctr">
              <a:buNone/>
            </a:pPr>
            <a:r>
              <a:rPr lang="en-US" sz="1100" b="1" kern="0" spc="150" dirty="0">
                <a:solidFill>
                  <a:schemeClr val="accent2"/>
                </a:solidFill>
              </a:rPr>
              <a:t>CLUB</a:t>
            </a:r>
            <a:endParaRPr lang="en-US" sz="1100" dirty="0"/>
          </a:p>
        </p:txBody>
      </p:sp>
      <p:sp>
        <p:nvSpPr>
          <p:cNvPr id="7" name="step 1 label"/>
          <p:cNvSpPr txBox="1"/>
          <p:nvPr/>
        </p:nvSpPr>
        <p:spPr>
          <a:xfrm>
            <a:off x="594360" y="3200400"/>
            <a:ext cx="1489166" cy="1097280"/>
          </a:xfrm>
          <a:prstGeom prst="rect">
            <a:avLst/>
          </a:prstGeom>
          <a:noFill/>
          <a:ln/>
        </p:spPr>
        <p:txBody>
          <a:bodyPr wrap="square" lIns="0" tIns="0" rIns="0" bIns="0" rtlCol="0" anchor="t"/>
          <a:lstStyle/>
          <a:p>
            <a:pPr marL="0" indent="0" algn="ctr">
              <a:buNone/>
            </a:pPr>
            <a:r>
              <a:rPr lang="en-US" sz="1600" b="1" dirty="0">
                <a:solidFill>
                  <a:schemeClr val="tx1"/>
                </a:solidFill>
              </a:rPr>
              <a:t>Creates event</a:t>
            </a:r>
            <a:endParaRPr lang="en-US" sz="1600" dirty="0"/>
          </a:p>
          <a:p>
            <a:pPr marL="0" indent="0" algn="ctr">
              <a:buNone/>
            </a:pPr>
            <a:r>
              <a:rPr lang="en-US" sz="1400" dirty="0">
                <a:solidFill>
                  <a:schemeClr val="tx2"/>
                </a:solidFill>
              </a:rPr>
              <a:t>Poster, venue, fee, payment QR</a:t>
            </a:r>
            <a:endParaRPr lang="en-US" sz="1600" dirty="0"/>
          </a:p>
        </p:txBody>
      </p:sp>
      <p:sp>
        <p:nvSpPr>
          <p:cNvPr id="8" name="step 2 circle"/>
          <p:cNvSpPr/>
          <p:nvPr/>
        </p:nvSpPr>
        <p:spPr>
          <a:xfrm>
            <a:off x="2535501" y="2221992"/>
            <a:ext cx="768096" cy="768096"/>
          </a:xfrm>
          <a:prstGeom prst="ellipse">
            <a:avLst/>
          </a:prstGeom>
          <a:solidFill>
            <a:schemeClr val="accent3"/>
          </a:solidFill>
          <a:ln w="50800">
            <a:solidFill>
              <a:srgbClr val="F4F6F9"/>
            </a:solidFill>
            <a:prstDash val="solid"/>
          </a:ln>
        </p:spPr>
      </p:sp>
      <p:sp>
        <p:nvSpPr>
          <p:cNvPr id="9" name="step 2 number"/>
          <p:cNvSpPr txBox="1"/>
          <p:nvPr/>
        </p:nvSpPr>
        <p:spPr>
          <a:xfrm>
            <a:off x="2535501" y="2221992"/>
            <a:ext cx="768096" cy="768096"/>
          </a:xfrm>
          <a:prstGeom prst="rect">
            <a:avLst/>
          </a:prstGeom>
          <a:noFill/>
          <a:ln/>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10" name="step 2 actor"/>
          <p:cNvSpPr txBox="1"/>
          <p:nvPr/>
        </p:nvSpPr>
        <p:spPr>
          <a:xfrm>
            <a:off x="2129246" y="1645920"/>
            <a:ext cx="1580606" cy="320040"/>
          </a:xfrm>
          <a:prstGeom prst="rect">
            <a:avLst/>
          </a:prstGeom>
          <a:noFill/>
          <a:ln/>
        </p:spPr>
        <p:txBody>
          <a:bodyPr wrap="square" lIns="0" tIns="0" rIns="0" bIns="0" rtlCol="0" anchor="ctr"/>
          <a:lstStyle/>
          <a:p>
            <a:pPr marL="0" indent="0" algn="ctr">
              <a:buNone/>
            </a:pPr>
            <a:r>
              <a:rPr lang="en-US" sz="1100" b="1" kern="0" spc="150" dirty="0">
                <a:solidFill>
                  <a:schemeClr val="accent3"/>
                </a:solidFill>
              </a:rPr>
              <a:t>ADMIN</a:t>
            </a:r>
            <a:endParaRPr lang="en-US" sz="1100" dirty="0"/>
          </a:p>
        </p:txBody>
      </p:sp>
      <p:sp>
        <p:nvSpPr>
          <p:cNvPr id="11" name="step 2 label"/>
          <p:cNvSpPr txBox="1"/>
          <p:nvPr/>
        </p:nvSpPr>
        <p:spPr>
          <a:xfrm>
            <a:off x="2174966" y="3200400"/>
            <a:ext cx="1489166" cy="1097280"/>
          </a:xfrm>
          <a:prstGeom prst="rect">
            <a:avLst/>
          </a:prstGeom>
          <a:noFill/>
          <a:ln/>
        </p:spPr>
        <p:txBody>
          <a:bodyPr wrap="square" lIns="0" tIns="0" rIns="0" bIns="0" rtlCol="0" anchor="t"/>
          <a:lstStyle/>
          <a:p>
            <a:pPr marL="0" indent="0" algn="ctr">
              <a:buNone/>
            </a:pPr>
            <a:r>
              <a:rPr lang="en-US" sz="1600" b="1" dirty="0">
                <a:solidFill>
                  <a:schemeClr val="tx1"/>
                </a:solidFill>
              </a:rPr>
              <a:t>Approves</a:t>
            </a:r>
            <a:endParaRPr lang="en-US" sz="1600" dirty="0"/>
          </a:p>
          <a:p>
            <a:pPr marL="0" indent="0" algn="ctr">
              <a:buNone/>
            </a:pPr>
            <a:r>
              <a:rPr lang="en-US" sz="1400" dirty="0">
                <a:solidFill>
                  <a:schemeClr val="tx2"/>
                </a:solidFill>
              </a:rPr>
              <a:t>Or requests changes</a:t>
            </a:r>
            <a:endParaRPr lang="en-US" sz="1600" dirty="0"/>
          </a:p>
        </p:txBody>
      </p:sp>
      <p:sp>
        <p:nvSpPr>
          <p:cNvPr id="12" name="step 3 circle"/>
          <p:cNvSpPr/>
          <p:nvPr/>
        </p:nvSpPr>
        <p:spPr>
          <a:xfrm>
            <a:off x="4116106" y="2221992"/>
            <a:ext cx="768096" cy="768096"/>
          </a:xfrm>
          <a:prstGeom prst="ellipse">
            <a:avLst/>
          </a:prstGeom>
          <a:solidFill>
            <a:schemeClr val="accent1"/>
          </a:solidFill>
          <a:ln w="50800">
            <a:solidFill>
              <a:srgbClr val="F4F6F9"/>
            </a:solidFill>
            <a:prstDash val="solid"/>
          </a:ln>
        </p:spPr>
      </p:sp>
      <p:sp>
        <p:nvSpPr>
          <p:cNvPr id="13" name="step 3 number"/>
          <p:cNvSpPr txBox="1"/>
          <p:nvPr/>
        </p:nvSpPr>
        <p:spPr>
          <a:xfrm>
            <a:off x="4116106" y="2221992"/>
            <a:ext cx="768096" cy="768096"/>
          </a:xfrm>
          <a:prstGeom prst="rect">
            <a:avLst/>
          </a:prstGeom>
          <a:noFill/>
          <a:ln/>
        </p:spPr>
        <p:txBody>
          <a:bodyPr wrap="square" lIns="0" tIns="0" rIns="0" bIns="0" rtlCol="0" anchor="ctr"/>
          <a:lstStyle/>
          <a:p>
            <a:pPr marL="0" indent="0" algn="ctr">
              <a:buNone/>
            </a:pPr>
            <a:r>
              <a:rPr lang="en-US" sz="2200" b="1" dirty="0">
                <a:solidFill>
                  <a:schemeClr val="bg1"/>
                </a:solidFill>
              </a:rPr>
              <a:t>3</a:t>
            </a:r>
            <a:endParaRPr lang="en-US" sz="2200" dirty="0"/>
          </a:p>
        </p:txBody>
      </p:sp>
      <p:sp>
        <p:nvSpPr>
          <p:cNvPr id="14" name="step 3 actor"/>
          <p:cNvSpPr txBox="1"/>
          <p:nvPr/>
        </p:nvSpPr>
        <p:spPr>
          <a:xfrm>
            <a:off x="3709851" y="1645920"/>
            <a:ext cx="1580606" cy="320040"/>
          </a:xfrm>
          <a:prstGeom prst="rect">
            <a:avLst/>
          </a:prstGeom>
          <a:noFill/>
          <a:ln/>
        </p:spPr>
        <p:txBody>
          <a:bodyPr wrap="square" lIns="0" tIns="0" rIns="0" bIns="0" rtlCol="0" anchor="ctr"/>
          <a:lstStyle/>
          <a:p>
            <a:pPr marL="0" indent="0" algn="ctr">
              <a:buNone/>
            </a:pPr>
            <a:r>
              <a:rPr lang="en-US" sz="1100" b="1" kern="0" spc="150" dirty="0">
                <a:solidFill>
                  <a:schemeClr val="accent1"/>
                </a:solidFill>
              </a:rPr>
              <a:t>STUDENT</a:t>
            </a:r>
            <a:endParaRPr lang="en-US" sz="1100" dirty="0"/>
          </a:p>
        </p:txBody>
      </p:sp>
      <p:sp>
        <p:nvSpPr>
          <p:cNvPr id="15" name="step 3 label"/>
          <p:cNvSpPr txBox="1"/>
          <p:nvPr/>
        </p:nvSpPr>
        <p:spPr>
          <a:xfrm>
            <a:off x="3755571" y="3200400"/>
            <a:ext cx="1489166" cy="1097280"/>
          </a:xfrm>
          <a:prstGeom prst="rect">
            <a:avLst/>
          </a:prstGeom>
          <a:noFill/>
          <a:ln/>
        </p:spPr>
        <p:txBody>
          <a:bodyPr wrap="square" lIns="0" tIns="0" rIns="0" bIns="0" rtlCol="0" anchor="t"/>
          <a:lstStyle/>
          <a:p>
            <a:pPr marL="0" indent="0" algn="ctr">
              <a:buNone/>
            </a:pPr>
            <a:r>
              <a:rPr lang="en-US" sz="1600" b="1" dirty="0">
                <a:solidFill>
                  <a:schemeClr val="tx1"/>
                </a:solidFill>
              </a:rPr>
              <a:t>Registers team</a:t>
            </a:r>
            <a:endParaRPr lang="en-US" sz="1600" dirty="0"/>
          </a:p>
          <a:p>
            <a:pPr marL="0" indent="0" algn="ctr">
              <a:buNone/>
            </a:pPr>
            <a:r>
              <a:rPr lang="en-US" sz="1400" dirty="0">
                <a:solidFill>
                  <a:schemeClr val="tx2"/>
                </a:solidFill>
              </a:rPr>
              <a:t>By CampusPulse ID</a:t>
            </a:r>
            <a:endParaRPr lang="en-US" sz="1600" dirty="0"/>
          </a:p>
        </p:txBody>
      </p:sp>
      <p:sp>
        <p:nvSpPr>
          <p:cNvPr id="16" name="step 4 circle"/>
          <p:cNvSpPr/>
          <p:nvPr/>
        </p:nvSpPr>
        <p:spPr>
          <a:xfrm>
            <a:off x="5696712" y="2221992"/>
            <a:ext cx="768096" cy="768096"/>
          </a:xfrm>
          <a:prstGeom prst="ellipse">
            <a:avLst/>
          </a:prstGeom>
          <a:solidFill>
            <a:schemeClr val="accent2"/>
          </a:solidFill>
          <a:ln w="50800">
            <a:solidFill>
              <a:srgbClr val="F4F6F9"/>
            </a:solidFill>
            <a:prstDash val="solid"/>
          </a:ln>
        </p:spPr>
      </p:sp>
      <p:sp>
        <p:nvSpPr>
          <p:cNvPr id="17" name="step 4 number"/>
          <p:cNvSpPr txBox="1"/>
          <p:nvPr/>
        </p:nvSpPr>
        <p:spPr>
          <a:xfrm>
            <a:off x="5696712" y="2221992"/>
            <a:ext cx="768096" cy="768096"/>
          </a:xfrm>
          <a:prstGeom prst="rect">
            <a:avLst/>
          </a:prstGeom>
          <a:noFill/>
          <a:ln/>
        </p:spPr>
        <p:txBody>
          <a:bodyPr wrap="square" lIns="0" tIns="0" rIns="0" bIns="0" rtlCol="0" anchor="ctr"/>
          <a:lstStyle/>
          <a:p>
            <a:pPr marL="0" indent="0" algn="ctr">
              <a:buNone/>
            </a:pPr>
            <a:r>
              <a:rPr lang="en-US" sz="2200" b="1" dirty="0">
                <a:solidFill>
                  <a:schemeClr val="bg1"/>
                </a:solidFill>
              </a:rPr>
              <a:t>4</a:t>
            </a:r>
            <a:endParaRPr lang="en-US" sz="2200" dirty="0"/>
          </a:p>
        </p:txBody>
      </p:sp>
      <p:sp>
        <p:nvSpPr>
          <p:cNvPr id="18" name="step 4 actor"/>
          <p:cNvSpPr txBox="1"/>
          <p:nvPr/>
        </p:nvSpPr>
        <p:spPr>
          <a:xfrm>
            <a:off x="5290457" y="1645920"/>
            <a:ext cx="1580606" cy="320040"/>
          </a:xfrm>
          <a:prstGeom prst="rect">
            <a:avLst/>
          </a:prstGeom>
          <a:noFill/>
          <a:ln/>
        </p:spPr>
        <p:txBody>
          <a:bodyPr wrap="square" lIns="0" tIns="0" rIns="0" bIns="0" rtlCol="0" anchor="ctr"/>
          <a:lstStyle/>
          <a:p>
            <a:pPr marL="0" indent="0" algn="ctr">
              <a:buNone/>
            </a:pPr>
            <a:r>
              <a:rPr lang="en-US" sz="1100" b="1" kern="0" spc="150" dirty="0">
                <a:solidFill>
                  <a:schemeClr val="accent2"/>
                </a:solidFill>
              </a:rPr>
              <a:t>CLUB</a:t>
            </a:r>
            <a:endParaRPr lang="en-US" sz="1100" dirty="0"/>
          </a:p>
        </p:txBody>
      </p:sp>
      <p:sp>
        <p:nvSpPr>
          <p:cNvPr id="19" name="step 4 label"/>
          <p:cNvSpPr txBox="1"/>
          <p:nvPr/>
        </p:nvSpPr>
        <p:spPr>
          <a:xfrm>
            <a:off x="5336177" y="3200400"/>
            <a:ext cx="1489166" cy="1097280"/>
          </a:xfrm>
          <a:prstGeom prst="rect">
            <a:avLst/>
          </a:prstGeom>
          <a:noFill/>
          <a:ln/>
        </p:spPr>
        <p:txBody>
          <a:bodyPr wrap="square" lIns="0" tIns="0" rIns="0" bIns="0" rtlCol="0" anchor="t"/>
          <a:lstStyle/>
          <a:p>
            <a:pPr marL="0" indent="0" algn="ctr">
              <a:buNone/>
            </a:pPr>
            <a:r>
              <a:rPr lang="en-US" sz="1600" b="1" dirty="0">
                <a:solidFill>
                  <a:schemeClr val="tx1"/>
                </a:solidFill>
              </a:rPr>
              <a:t>Verifies payment</a:t>
            </a:r>
            <a:endParaRPr lang="en-US" sz="1600" dirty="0"/>
          </a:p>
          <a:p>
            <a:pPr marL="0" indent="0" algn="ctr">
              <a:buNone/>
            </a:pPr>
            <a:r>
              <a:rPr lang="en-US" sz="1400" dirty="0">
                <a:solidFill>
                  <a:schemeClr val="tx2"/>
                </a:solidFill>
              </a:rPr>
              <a:t>Team gets WhatsApp link</a:t>
            </a:r>
            <a:endParaRPr lang="en-US" sz="1600" dirty="0"/>
          </a:p>
        </p:txBody>
      </p:sp>
      <p:sp>
        <p:nvSpPr>
          <p:cNvPr id="20" name="step 5 circle"/>
          <p:cNvSpPr/>
          <p:nvPr/>
        </p:nvSpPr>
        <p:spPr>
          <a:xfrm>
            <a:off x="7277318" y="2221992"/>
            <a:ext cx="768096" cy="768096"/>
          </a:xfrm>
          <a:prstGeom prst="ellipse">
            <a:avLst/>
          </a:prstGeom>
          <a:solidFill>
            <a:schemeClr val="accent1"/>
          </a:solidFill>
          <a:ln w="50800">
            <a:solidFill>
              <a:srgbClr val="F4F6F9"/>
            </a:solidFill>
            <a:prstDash val="solid"/>
          </a:ln>
        </p:spPr>
      </p:sp>
      <p:sp>
        <p:nvSpPr>
          <p:cNvPr id="21" name="step 5 number"/>
          <p:cNvSpPr txBox="1"/>
          <p:nvPr/>
        </p:nvSpPr>
        <p:spPr>
          <a:xfrm>
            <a:off x="7277318" y="2221992"/>
            <a:ext cx="768096" cy="768096"/>
          </a:xfrm>
          <a:prstGeom prst="rect">
            <a:avLst/>
          </a:prstGeom>
          <a:noFill/>
          <a:ln/>
        </p:spPr>
        <p:txBody>
          <a:bodyPr wrap="square" lIns="0" tIns="0" rIns="0" bIns="0" rtlCol="0" anchor="ctr"/>
          <a:lstStyle/>
          <a:p>
            <a:pPr marL="0" indent="0" algn="ctr">
              <a:buNone/>
            </a:pPr>
            <a:r>
              <a:rPr lang="en-US" sz="2200" b="1" dirty="0">
                <a:solidFill>
                  <a:schemeClr val="bg1"/>
                </a:solidFill>
              </a:rPr>
              <a:t>5</a:t>
            </a:r>
            <a:endParaRPr lang="en-US" sz="2200" dirty="0"/>
          </a:p>
        </p:txBody>
      </p:sp>
      <p:sp>
        <p:nvSpPr>
          <p:cNvPr id="22" name="step 5 actor"/>
          <p:cNvSpPr txBox="1"/>
          <p:nvPr/>
        </p:nvSpPr>
        <p:spPr>
          <a:xfrm>
            <a:off x="6871063" y="1645920"/>
            <a:ext cx="1580606" cy="320040"/>
          </a:xfrm>
          <a:prstGeom prst="rect">
            <a:avLst/>
          </a:prstGeom>
          <a:noFill/>
          <a:ln/>
        </p:spPr>
        <p:txBody>
          <a:bodyPr wrap="square" lIns="0" tIns="0" rIns="0" bIns="0" rtlCol="0" anchor="ctr"/>
          <a:lstStyle/>
          <a:p>
            <a:pPr marL="0" indent="0" algn="ctr">
              <a:buNone/>
            </a:pPr>
            <a:r>
              <a:rPr lang="en-US" sz="1100" b="1" kern="0" spc="150" dirty="0">
                <a:solidFill>
                  <a:schemeClr val="accent1"/>
                </a:solidFill>
              </a:rPr>
              <a:t>STUDENT</a:t>
            </a:r>
            <a:endParaRPr lang="en-US" sz="1100" dirty="0"/>
          </a:p>
        </p:txBody>
      </p:sp>
      <p:sp>
        <p:nvSpPr>
          <p:cNvPr id="23" name="step 5 label"/>
          <p:cNvSpPr txBox="1"/>
          <p:nvPr/>
        </p:nvSpPr>
        <p:spPr>
          <a:xfrm>
            <a:off x="6916783" y="3200400"/>
            <a:ext cx="1489166" cy="1097280"/>
          </a:xfrm>
          <a:prstGeom prst="rect">
            <a:avLst/>
          </a:prstGeom>
          <a:noFill/>
          <a:ln/>
        </p:spPr>
        <p:txBody>
          <a:bodyPr wrap="square" lIns="0" tIns="0" rIns="0" bIns="0" rtlCol="0" anchor="t"/>
          <a:lstStyle/>
          <a:p>
            <a:pPr marL="0" indent="0" algn="ctr">
              <a:buNone/>
            </a:pPr>
            <a:r>
              <a:rPr lang="en-US" sz="1600" b="1" dirty="0">
                <a:solidFill>
                  <a:schemeClr val="tx1"/>
                </a:solidFill>
              </a:rPr>
              <a:t>Gets QR ticket</a:t>
            </a:r>
            <a:endParaRPr lang="en-US" sz="1600" dirty="0"/>
          </a:p>
          <a:p>
            <a:pPr marL="0" indent="0" algn="ctr">
              <a:buNone/>
            </a:pPr>
            <a:r>
              <a:rPr lang="en-US" sz="1400" dirty="0">
                <a:solidFill>
                  <a:schemeClr val="tx2"/>
                </a:solidFill>
              </a:rPr>
              <a:t>Reminder 1 day before</a:t>
            </a:r>
            <a:endParaRPr lang="en-US" sz="1600" dirty="0"/>
          </a:p>
        </p:txBody>
      </p:sp>
      <p:sp>
        <p:nvSpPr>
          <p:cNvPr id="24" name="step 6 circle"/>
          <p:cNvSpPr/>
          <p:nvPr/>
        </p:nvSpPr>
        <p:spPr>
          <a:xfrm>
            <a:off x="8857923" y="2221992"/>
            <a:ext cx="768096" cy="768096"/>
          </a:xfrm>
          <a:prstGeom prst="ellipse">
            <a:avLst/>
          </a:prstGeom>
          <a:solidFill>
            <a:schemeClr val="accent2"/>
          </a:solidFill>
          <a:ln w="50800">
            <a:solidFill>
              <a:srgbClr val="F4F6F9"/>
            </a:solidFill>
            <a:prstDash val="solid"/>
          </a:ln>
        </p:spPr>
      </p:sp>
      <p:sp>
        <p:nvSpPr>
          <p:cNvPr id="25" name="step 6 number"/>
          <p:cNvSpPr txBox="1"/>
          <p:nvPr/>
        </p:nvSpPr>
        <p:spPr>
          <a:xfrm>
            <a:off x="8857923" y="2221992"/>
            <a:ext cx="768096" cy="768096"/>
          </a:xfrm>
          <a:prstGeom prst="rect">
            <a:avLst/>
          </a:prstGeom>
          <a:noFill/>
          <a:ln/>
        </p:spPr>
        <p:txBody>
          <a:bodyPr wrap="square" lIns="0" tIns="0" rIns="0" bIns="0" rtlCol="0" anchor="ctr"/>
          <a:lstStyle/>
          <a:p>
            <a:pPr marL="0" indent="0" algn="ctr">
              <a:buNone/>
            </a:pPr>
            <a:r>
              <a:rPr lang="en-US" sz="2200" b="1" dirty="0">
                <a:solidFill>
                  <a:schemeClr val="bg1"/>
                </a:solidFill>
              </a:rPr>
              <a:t>6</a:t>
            </a:r>
            <a:endParaRPr lang="en-US" sz="2200" dirty="0"/>
          </a:p>
        </p:txBody>
      </p:sp>
      <p:sp>
        <p:nvSpPr>
          <p:cNvPr id="26" name="step 6 actor"/>
          <p:cNvSpPr txBox="1"/>
          <p:nvPr/>
        </p:nvSpPr>
        <p:spPr>
          <a:xfrm>
            <a:off x="8451669" y="1645920"/>
            <a:ext cx="1580606" cy="320040"/>
          </a:xfrm>
          <a:prstGeom prst="rect">
            <a:avLst/>
          </a:prstGeom>
          <a:noFill/>
          <a:ln/>
        </p:spPr>
        <p:txBody>
          <a:bodyPr wrap="square" lIns="0" tIns="0" rIns="0" bIns="0" rtlCol="0" anchor="ctr"/>
          <a:lstStyle/>
          <a:p>
            <a:pPr marL="0" indent="0" algn="ctr">
              <a:buNone/>
            </a:pPr>
            <a:r>
              <a:rPr lang="en-US" sz="1100" b="1" kern="0" spc="150" dirty="0">
                <a:solidFill>
                  <a:schemeClr val="accent2"/>
                </a:solidFill>
              </a:rPr>
              <a:t>CLUB</a:t>
            </a:r>
            <a:endParaRPr lang="en-US" sz="1100" dirty="0"/>
          </a:p>
        </p:txBody>
      </p:sp>
      <p:sp>
        <p:nvSpPr>
          <p:cNvPr id="27" name="step 6 label"/>
          <p:cNvSpPr txBox="1"/>
          <p:nvPr/>
        </p:nvSpPr>
        <p:spPr>
          <a:xfrm>
            <a:off x="8497389" y="3200400"/>
            <a:ext cx="1489166" cy="1097280"/>
          </a:xfrm>
          <a:prstGeom prst="rect">
            <a:avLst/>
          </a:prstGeom>
          <a:noFill/>
          <a:ln/>
        </p:spPr>
        <p:txBody>
          <a:bodyPr wrap="square" lIns="0" tIns="0" rIns="0" bIns="0" rtlCol="0" anchor="t"/>
          <a:lstStyle/>
          <a:p>
            <a:pPr marL="0" indent="0" algn="ctr">
              <a:buNone/>
            </a:pPr>
            <a:r>
              <a:rPr lang="en-US" sz="1600" b="1" dirty="0">
                <a:solidFill>
                  <a:schemeClr val="tx1"/>
                </a:solidFill>
              </a:rPr>
              <a:t>Scans at gate</a:t>
            </a:r>
            <a:endParaRPr lang="en-US" sz="1600" dirty="0"/>
          </a:p>
          <a:p>
            <a:pPr marL="0" indent="0" algn="ctr">
              <a:buNone/>
            </a:pPr>
            <a:r>
              <a:rPr lang="en-US" sz="1400" dirty="0">
                <a:solidFill>
                  <a:schemeClr val="tx2"/>
                </a:solidFill>
              </a:rPr>
              <a:t>Live attendance</a:t>
            </a:r>
            <a:endParaRPr lang="en-US" sz="1600" dirty="0"/>
          </a:p>
        </p:txBody>
      </p:sp>
      <p:sp>
        <p:nvSpPr>
          <p:cNvPr id="28" name="step 7 circle"/>
          <p:cNvSpPr/>
          <p:nvPr/>
        </p:nvSpPr>
        <p:spPr>
          <a:xfrm>
            <a:off x="10438529" y="2221992"/>
            <a:ext cx="768096" cy="768096"/>
          </a:xfrm>
          <a:prstGeom prst="ellipse">
            <a:avLst/>
          </a:prstGeom>
          <a:solidFill>
            <a:schemeClr val="tx1"/>
          </a:solidFill>
          <a:ln w="50800">
            <a:solidFill>
              <a:srgbClr val="F4F6F9"/>
            </a:solidFill>
            <a:prstDash val="solid"/>
          </a:ln>
        </p:spPr>
      </p:sp>
      <p:sp>
        <p:nvSpPr>
          <p:cNvPr id="29" name="step 7 number"/>
          <p:cNvSpPr txBox="1"/>
          <p:nvPr/>
        </p:nvSpPr>
        <p:spPr>
          <a:xfrm>
            <a:off x="10438529" y="2221992"/>
            <a:ext cx="768096" cy="768096"/>
          </a:xfrm>
          <a:prstGeom prst="rect">
            <a:avLst/>
          </a:prstGeom>
          <a:noFill/>
          <a:ln/>
        </p:spPr>
        <p:txBody>
          <a:bodyPr wrap="square" lIns="0" tIns="0" rIns="0" bIns="0" rtlCol="0" anchor="ctr"/>
          <a:lstStyle/>
          <a:p>
            <a:pPr marL="0" indent="0" algn="ctr">
              <a:buNone/>
            </a:pPr>
            <a:r>
              <a:rPr lang="en-US" sz="2200" b="1" dirty="0">
                <a:solidFill>
                  <a:schemeClr val="bg1"/>
                </a:solidFill>
              </a:rPr>
              <a:t>7</a:t>
            </a:r>
            <a:endParaRPr lang="en-US" sz="2200" dirty="0"/>
          </a:p>
        </p:txBody>
      </p:sp>
      <p:sp>
        <p:nvSpPr>
          <p:cNvPr id="30" name="step 7 actor"/>
          <p:cNvSpPr txBox="1"/>
          <p:nvPr/>
        </p:nvSpPr>
        <p:spPr>
          <a:xfrm>
            <a:off x="10032274" y="1645920"/>
            <a:ext cx="1580606" cy="320040"/>
          </a:xfrm>
          <a:prstGeom prst="rect">
            <a:avLst/>
          </a:prstGeom>
          <a:noFill/>
          <a:ln/>
        </p:spPr>
        <p:txBody>
          <a:bodyPr wrap="square" lIns="0" tIns="0" rIns="0" bIns="0" rtlCol="0" anchor="ctr"/>
          <a:lstStyle/>
          <a:p>
            <a:pPr marL="0" indent="0" algn="ctr">
              <a:buNone/>
            </a:pPr>
            <a:r>
              <a:rPr lang="en-US" sz="1100" b="1" kern="0" spc="150" dirty="0">
                <a:solidFill>
                  <a:schemeClr val="tx1"/>
                </a:solidFill>
              </a:rPr>
              <a:t>BOTH</a:t>
            </a:r>
            <a:endParaRPr lang="en-US" sz="1100" dirty="0"/>
          </a:p>
        </p:txBody>
      </p:sp>
      <p:sp>
        <p:nvSpPr>
          <p:cNvPr id="31" name="step 7 label"/>
          <p:cNvSpPr txBox="1"/>
          <p:nvPr/>
        </p:nvSpPr>
        <p:spPr>
          <a:xfrm>
            <a:off x="10077994" y="3200400"/>
            <a:ext cx="1489166" cy="1097280"/>
          </a:xfrm>
          <a:prstGeom prst="rect">
            <a:avLst/>
          </a:prstGeom>
          <a:noFill/>
          <a:ln/>
        </p:spPr>
        <p:txBody>
          <a:bodyPr wrap="square" lIns="0" tIns="0" rIns="0" bIns="0" rtlCol="0" anchor="t"/>
          <a:lstStyle/>
          <a:p>
            <a:pPr marL="0" indent="0" algn="ctr">
              <a:buNone/>
            </a:pPr>
            <a:r>
              <a:rPr lang="en-US" sz="1600" b="1" dirty="0">
                <a:solidFill>
                  <a:schemeClr val="tx1"/>
                </a:solidFill>
              </a:rPr>
              <a:t>Feedback &amp; certificate</a:t>
            </a:r>
            <a:endParaRPr lang="en-US" sz="1600" dirty="0"/>
          </a:p>
          <a:p>
            <a:pPr marL="0" indent="0" algn="ctr">
              <a:buNone/>
            </a:pPr>
            <a:r>
              <a:rPr lang="en-US" sz="1400" dirty="0">
                <a:solidFill>
                  <a:schemeClr val="tx2"/>
                </a:solidFill>
              </a:rPr>
              <a:t>Verifiable by QR</a:t>
            </a:r>
            <a:endParaRPr lang="en-US" sz="1600" dirty="0"/>
          </a:p>
        </p:txBody>
      </p:sp>
      <p:sp>
        <p:nvSpPr>
          <p:cNvPr id="32" name="goal card"/>
          <p:cNvSpPr/>
          <p:nvPr/>
        </p:nvSpPr>
        <p:spPr>
          <a:xfrm>
            <a:off x="548640" y="4709160"/>
            <a:ext cx="11064240" cy="1280160"/>
          </a:xfrm>
          <a:prstGeom prst="roundRect">
            <a:avLst>
              <a:gd name="adj" fmla="val 10000"/>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33" name="goal text"/>
          <p:cNvSpPr txBox="1"/>
          <p:nvPr/>
        </p:nvSpPr>
        <p:spPr>
          <a:xfrm>
            <a:off x="868680" y="4709160"/>
            <a:ext cx="10424160" cy="1280160"/>
          </a:xfrm>
          <a:prstGeom prst="rect">
            <a:avLst/>
          </a:prstGeom>
          <a:noFill/>
          <a:ln/>
        </p:spPr>
        <p:txBody>
          <a:bodyPr wrap="square" lIns="0" tIns="0" rIns="0" bIns="0" rtlCol="0" anchor="ctr"/>
          <a:lstStyle/>
          <a:p>
            <a:pPr marL="0" indent="0">
              <a:buNone/>
            </a:pPr>
            <a:r>
              <a:rPr lang="en-US" sz="1600" b="1" dirty="0">
                <a:solidFill>
                  <a:schemeClr val="accent1"/>
                </a:solidFill>
              </a:rPr>
              <a:t>Problem Statement goal:  </a:t>
            </a:r>
            <a:r>
              <a:rPr lang="en-US" sz="1600" i="1" dirty="0">
                <a:solidFill>
                  <a:schemeClr val="tx1"/>
                </a:solidFill>
              </a:rPr>
              <a:t>"demonstrated end to end from poster upload and approval to QR check-in and live attendance analytics for organizers."  </a:t>
            </a:r>
            <a:r>
              <a:rPr lang="en-US" sz="1600" b="1" dirty="0">
                <a:solidFill>
                  <a:schemeClr val="tx1"/>
                </a:solidFill>
              </a:rPr>
              <a:t>Our live demo walks exactly this path.</a:t>
            </a:r>
            <a:endParaRPr lang="en-US" sz="16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400" b="1" dirty="0">
                <a:solidFill>
                  <a:schemeClr val="tx1"/>
                </a:solidFill>
              </a:rPr>
              <a:t>Find an event in seconds</a:t>
            </a:r>
            <a:endParaRPr lang="en-US" sz="3400" dirty="0"/>
          </a:p>
        </p:txBody>
      </p:sp>
      <p:sp>
        <p:nvSpPr>
          <p:cNvPr id="3" name="d-home frame"/>
          <p:cNvSpPr/>
          <p:nvPr/>
        </p:nvSpPr>
        <p:spPr>
          <a:xfrm>
            <a:off x="576072" y="1353312"/>
            <a:ext cx="6711696" cy="4242816"/>
          </a:xfrm>
          <a:prstGeom prst="roundRect">
            <a:avLst>
              <a:gd name="adj" fmla="val 2586"/>
            </a:avLst>
          </a:prstGeom>
          <a:solidFill>
            <a:schemeClr val="accent4"/>
          </a:solidFill>
          <a:ln w="9525">
            <a:solidFill>
              <a:srgbClr val="0B0E14"/>
            </a:solidFill>
            <a:prstDash val="solid"/>
          </a:ln>
          <a:effectLst>
            <a:outerShdw blurRad="177800" dist="50800" dir="5400000" algn="bl" rotWithShape="0">
              <a:srgbClr val="000000">
                <a:alpha val="22000"/>
              </a:srgbClr>
            </a:outerShdw>
          </a:effectLst>
        </p:spPr>
      </p:sp>
      <p:pic>
        <p:nvPicPr>
          <p:cNvPr id="4" name="d-home" descr="Student home: alerts, search, featured events"/>
          <p:cNvPicPr>
            <a:picLocks noChangeAspect="1"/>
          </p:cNvPicPr>
          <p:nvPr/>
        </p:nvPicPr>
        <p:blipFill>
          <a:blip r:embed="rId3"/>
          <a:stretch>
            <a:fillRect/>
          </a:stretch>
        </p:blipFill>
        <p:spPr>
          <a:xfrm>
            <a:off x="640080" y="1417320"/>
            <a:ext cx="6583680" cy="4114800"/>
          </a:xfrm>
          <a:prstGeom prst="rect">
            <a:avLst/>
          </a:prstGeom>
        </p:spPr>
      </p:pic>
      <p:sp>
        <p:nvSpPr>
          <p:cNvPr id="5" name="point 1 dot"/>
          <p:cNvSpPr/>
          <p:nvPr/>
        </p:nvSpPr>
        <p:spPr>
          <a:xfrm>
            <a:off x="7726680" y="1527048"/>
            <a:ext cx="182880" cy="182880"/>
          </a:xfrm>
          <a:prstGeom prst="ellipse">
            <a:avLst/>
          </a:prstGeom>
          <a:solidFill>
            <a:schemeClr val="accent1"/>
          </a:solidFill>
          <a:ln/>
        </p:spPr>
      </p:sp>
      <p:sp>
        <p:nvSpPr>
          <p:cNvPr id="6" name="point 1"/>
          <p:cNvSpPr txBox="1"/>
          <p:nvPr/>
        </p:nvSpPr>
        <p:spPr>
          <a:xfrm>
            <a:off x="8074152" y="14630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One search box</a:t>
            </a:r>
            <a:endParaRPr lang="en-US" sz="1500" dirty="0"/>
          </a:p>
          <a:p>
            <a:pPr marL="0" indent="0">
              <a:spcAft>
                <a:spcPts val="200"/>
              </a:spcAft>
              <a:buNone/>
            </a:pPr>
            <a:r>
              <a:rPr lang="en-US" sz="1500" dirty="0">
                <a:solidFill>
                  <a:schemeClr val="tx2"/>
                </a:solidFill>
              </a:rPr>
              <a:t>Events, clubs, categories and venues</a:t>
            </a:r>
            <a:endParaRPr lang="en-US" sz="1500" dirty="0"/>
          </a:p>
        </p:txBody>
      </p:sp>
      <p:sp>
        <p:nvSpPr>
          <p:cNvPr id="7" name="point 2 dot"/>
          <p:cNvSpPr/>
          <p:nvPr/>
        </p:nvSpPr>
        <p:spPr>
          <a:xfrm>
            <a:off x="7726680" y="2441448"/>
            <a:ext cx="182880" cy="182880"/>
          </a:xfrm>
          <a:prstGeom prst="ellipse">
            <a:avLst/>
          </a:prstGeom>
          <a:solidFill>
            <a:schemeClr val="accent1"/>
          </a:solidFill>
          <a:ln/>
        </p:spPr>
      </p:sp>
      <p:sp>
        <p:nvSpPr>
          <p:cNvPr id="8" name="point 2"/>
          <p:cNvSpPr txBox="1"/>
          <p:nvPr/>
        </p:nvSpPr>
        <p:spPr>
          <a:xfrm>
            <a:off x="8074152" y="23774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Smart filters</a:t>
            </a:r>
            <a:endParaRPr lang="en-US" sz="1500" dirty="0"/>
          </a:p>
          <a:p>
            <a:pPr marL="0" indent="0">
              <a:spcAft>
                <a:spcPts val="200"/>
              </a:spcAft>
              <a:buNone/>
            </a:pPr>
            <a:r>
              <a:rPr lang="en-US" sz="1500" dirty="0">
                <a:solidFill>
                  <a:schemeClr val="tx2"/>
                </a:solidFill>
              </a:rPr>
              <a:t>Category, club, free / paid, open now, past</a:t>
            </a:r>
            <a:endParaRPr lang="en-US" sz="1500" dirty="0"/>
          </a:p>
        </p:txBody>
      </p:sp>
      <p:sp>
        <p:nvSpPr>
          <p:cNvPr id="9" name="point 3 dot"/>
          <p:cNvSpPr/>
          <p:nvPr/>
        </p:nvSpPr>
        <p:spPr>
          <a:xfrm>
            <a:off x="7726680" y="3355848"/>
            <a:ext cx="182880" cy="182880"/>
          </a:xfrm>
          <a:prstGeom prst="ellipse">
            <a:avLst/>
          </a:prstGeom>
          <a:solidFill>
            <a:schemeClr val="accent1"/>
          </a:solidFill>
          <a:ln/>
        </p:spPr>
      </p:sp>
      <p:sp>
        <p:nvSpPr>
          <p:cNvPr id="10" name="point 3"/>
          <p:cNvSpPr txBox="1"/>
          <p:nvPr/>
        </p:nvSpPr>
        <p:spPr>
          <a:xfrm>
            <a:off x="8074152" y="32918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Club &amp; department pages</a:t>
            </a:r>
            <a:endParaRPr lang="en-US" sz="1500" dirty="0"/>
          </a:p>
          <a:p>
            <a:pPr marL="0" indent="0">
              <a:spcAft>
                <a:spcPts val="200"/>
              </a:spcAft>
              <a:buNone/>
            </a:pPr>
            <a:r>
              <a:rPr lang="en-US" sz="1500" dirty="0">
                <a:solidFill>
                  <a:schemeClr val="tx2"/>
                </a:solidFill>
              </a:rPr>
              <a:t>Every event a club runs, in one place</a:t>
            </a:r>
            <a:endParaRPr lang="en-US" sz="1500" dirty="0"/>
          </a:p>
        </p:txBody>
      </p:sp>
      <p:sp>
        <p:nvSpPr>
          <p:cNvPr id="11" name="point 4 dot"/>
          <p:cNvSpPr/>
          <p:nvPr/>
        </p:nvSpPr>
        <p:spPr>
          <a:xfrm>
            <a:off x="7726680" y="4270248"/>
            <a:ext cx="182880" cy="182880"/>
          </a:xfrm>
          <a:prstGeom prst="ellipse">
            <a:avLst/>
          </a:prstGeom>
          <a:solidFill>
            <a:schemeClr val="accent1"/>
          </a:solidFill>
          <a:ln/>
        </p:spPr>
      </p:sp>
      <p:sp>
        <p:nvSpPr>
          <p:cNvPr id="12" name="point 4"/>
          <p:cNvSpPr txBox="1"/>
          <p:nvPr/>
        </p:nvSpPr>
        <p:spPr>
          <a:xfrm>
            <a:off x="8074152" y="42062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Internal-only events</a:t>
            </a:r>
            <a:endParaRPr lang="en-US" sz="1500" dirty="0"/>
          </a:p>
          <a:p>
            <a:pPr marL="0" indent="0">
              <a:spcAft>
                <a:spcPts val="200"/>
              </a:spcAft>
              <a:buNone/>
            </a:pPr>
            <a:r>
              <a:rPr lang="en-US" sz="1500" dirty="0">
                <a:solidFill>
                  <a:schemeClr val="tx2"/>
                </a:solidFill>
              </a:rPr>
              <a:t>Tagged and limited to own-college students</a:t>
            </a:r>
            <a:endParaRPr lang="en-US" sz="1500" dirty="0"/>
          </a:p>
        </p:txBody>
      </p:sp>
      <p:sp>
        <p:nvSpPr>
          <p:cNvPr id="13" name="point 5 dot"/>
          <p:cNvSpPr/>
          <p:nvPr/>
        </p:nvSpPr>
        <p:spPr>
          <a:xfrm>
            <a:off x="7726680" y="5184648"/>
            <a:ext cx="182880" cy="182880"/>
          </a:xfrm>
          <a:prstGeom prst="ellipse">
            <a:avLst/>
          </a:prstGeom>
          <a:solidFill>
            <a:schemeClr val="accent1"/>
          </a:solidFill>
          <a:ln/>
        </p:spPr>
      </p:sp>
      <p:sp>
        <p:nvSpPr>
          <p:cNvPr id="14" name="point 5"/>
          <p:cNvSpPr txBox="1"/>
          <p:nvPr/>
        </p:nvSpPr>
        <p:spPr>
          <a:xfrm>
            <a:off x="8074152" y="51206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Day-before reminder</a:t>
            </a:r>
            <a:endParaRPr lang="en-US" sz="1500" dirty="0"/>
          </a:p>
          <a:p>
            <a:pPr marL="0" indent="0">
              <a:spcAft>
                <a:spcPts val="200"/>
              </a:spcAft>
              <a:buNone/>
            </a:pPr>
            <a:r>
              <a:rPr lang="en-US" sz="1500" dirty="0">
                <a:solidFill>
                  <a:schemeClr val="tx2"/>
                </a:solidFill>
              </a:rPr>
              <a:t>Notification + "Tomorrow" banner on home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400" b="1" dirty="0">
                <a:solidFill>
                  <a:schemeClr val="tx1"/>
                </a:solidFill>
              </a:rPr>
              <a:t>Register a team and pay in one flow</a:t>
            </a:r>
            <a:endParaRPr lang="en-US" sz="3400" dirty="0"/>
          </a:p>
        </p:txBody>
      </p:sp>
      <p:sp>
        <p:nvSpPr>
          <p:cNvPr id="3" name="point 1 dot"/>
          <p:cNvSpPr/>
          <p:nvPr/>
        </p:nvSpPr>
        <p:spPr>
          <a:xfrm>
            <a:off x="548640" y="1527048"/>
            <a:ext cx="182880" cy="182880"/>
          </a:xfrm>
          <a:prstGeom prst="ellipse">
            <a:avLst/>
          </a:prstGeom>
          <a:solidFill>
            <a:schemeClr val="accent1"/>
          </a:solidFill>
          <a:ln/>
        </p:spPr>
      </p:sp>
      <p:sp>
        <p:nvSpPr>
          <p:cNvPr id="4" name="point 1"/>
          <p:cNvSpPr txBox="1"/>
          <p:nvPr/>
        </p:nvSpPr>
        <p:spPr>
          <a:xfrm>
            <a:off x="896112" y="1463040"/>
            <a:ext cx="3675888" cy="97840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Teammates by CampusPulse ID</a:t>
            </a:r>
            <a:endParaRPr lang="en-US" sz="1500" dirty="0"/>
          </a:p>
          <a:p>
            <a:pPr marL="0" indent="0">
              <a:spcAft>
                <a:spcPts val="200"/>
              </a:spcAft>
              <a:buNone/>
            </a:pPr>
            <a:r>
              <a:rPr lang="en-US" sz="1500" dirty="0">
                <a:solidFill>
                  <a:schemeClr val="tx2"/>
                </a:solidFill>
              </a:rPr>
              <a:t>Name, register no. and college filled in and verified</a:t>
            </a:r>
            <a:endParaRPr lang="en-US" sz="1500" dirty="0"/>
          </a:p>
        </p:txBody>
      </p:sp>
      <p:sp>
        <p:nvSpPr>
          <p:cNvPr id="5" name="point 2 dot"/>
          <p:cNvSpPr/>
          <p:nvPr/>
        </p:nvSpPr>
        <p:spPr>
          <a:xfrm>
            <a:off x="548640" y="2578608"/>
            <a:ext cx="182880" cy="182880"/>
          </a:xfrm>
          <a:prstGeom prst="ellipse">
            <a:avLst/>
          </a:prstGeom>
          <a:solidFill>
            <a:schemeClr val="accent1"/>
          </a:solidFill>
          <a:ln/>
        </p:spPr>
      </p:sp>
      <p:sp>
        <p:nvSpPr>
          <p:cNvPr id="6" name="point 2"/>
          <p:cNvSpPr txBox="1"/>
          <p:nvPr/>
        </p:nvSpPr>
        <p:spPr>
          <a:xfrm>
            <a:off x="896112" y="2514600"/>
            <a:ext cx="3675888" cy="97840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Pay the club's own UPI QR</a:t>
            </a:r>
            <a:endParaRPr lang="en-US" sz="1500" dirty="0"/>
          </a:p>
          <a:p>
            <a:pPr marL="0" indent="0">
              <a:spcAft>
                <a:spcPts val="200"/>
              </a:spcAft>
              <a:buNone/>
            </a:pPr>
            <a:r>
              <a:rPr lang="en-US" sz="1500" dirty="0">
                <a:solidFill>
                  <a:schemeClr val="tx2"/>
                </a:solidFill>
              </a:rPr>
              <a:t>Generated with the exact amount if only a UPI ID is given</a:t>
            </a:r>
            <a:endParaRPr lang="en-US" sz="1500" dirty="0"/>
          </a:p>
        </p:txBody>
      </p:sp>
      <p:sp>
        <p:nvSpPr>
          <p:cNvPr id="7" name="point 3 dot"/>
          <p:cNvSpPr/>
          <p:nvPr/>
        </p:nvSpPr>
        <p:spPr>
          <a:xfrm>
            <a:off x="548640" y="3630168"/>
            <a:ext cx="182880" cy="182880"/>
          </a:xfrm>
          <a:prstGeom prst="ellipse">
            <a:avLst/>
          </a:prstGeom>
          <a:solidFill>
            <a:schemeClr val="accent1"/>
          </a:solidFill>
          <a:ln/>
        </p:spPr>
      </p:sp>
      <p:sp>
        <p:nvSpPr>
          <p:cNvPr id="8" name="point 3"/>
          <p:cNvSpPr txBox="1"/>
          <p:nvPr/>
        </p:nvSpPr>
        <p:spPr>
          <a:xfrm>
            <a:off x="896112" y="3566160"/>
            <a:ext cx="3675888" cy="97840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Transaction ID + screenshot</a:t>
            </a:r>
            <a:endParaRPr lang="en-US" sz="1500" dirty="0"/>
          </a:p>
          <a:p>
            <a:pPr marL="0" indent="0">
              <a:spcAft>
                <a:spcPts val="200"/>
              </a:spcAft>
              <a:buNone/>
            </a:pPr>
            <a:r>
              <a:rPr lang="en-US" sz="1500" dirty="0">
                <a:solidFill>
                  <a:schemeClr val="tx2"/>
                </a:solidFill>
              </a:rPr>
              <a:t>Submitted for the club to verify</a:t>
            </a:r>
            <a:endParaRPr lang="en-US" sz="1500" dirty="0"/>
          </a:p>
        </p:txBody>
      </p:sp>
      <p:sp>
        <p:nvSpPr>
          <p:cNvPr id="9" name="point 4 dot"/>
          <p:cNvSpPr/>
          <p:nvPr/>
        </p:nvSpPr>
        <p:spPr>
          <a:xfrm>
            <a:off x="548640" y="4681728"/>
            <a:ext cx="182880" cy="182880"/>
          </a:xfrm>
          <a:prstGeom prst="ellipse">
            <a:avLst/>
          </a:prstGeom>
          <a:solidFill>
            <a:schemeClr val="accent1"/>
          </a:solidFill>
          <a:ln/>
        </p:spPr>
      </p:sp>
      <p:sp>
        <p:nvSpPr>
          <p:cNvPr id="10" name="point 4"/>
          <p:cNvSpPr txBox="1"/>
          <p:nvPr/>
        </p:nvSpPr>
        <p:spPr>
          <a:xfrm>
            <a:off x="896112" y="4617720"/>
            <a:ext cx="3675888" cy="97840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Fraud &amp; mistakes blocked</a:t>
            </a:r>
            <a:endParaRPr lang="en-US" sz="1500" dirty="0"/>
          </a:p>
          <a:p>
            <a:pPr marL="0" indent="0">
              <a:spcAft>
                <a:spcPts val="200"/>
              </a:spcAft>
              <a:buNone/>
            </a:pPr>
            <a:r>
              <a:rPr lang="en-US" sz="1500" dirty="0">
                <a:solidFill>
                  <a:schemeClr val="tx2"/>
                </a:solidFill>
              </a:rPr>
              <a:t>Reused transaction IDs, duplicate members, full events</a:t>
            </a:r>
            <a:endParaRPr lang="en-US" sz="1500" dirty="0"/>
          </a:p>
        </p:txBody>
      </p:sp>
      <p:sp>
        <p:nvSpPr>
          <p:cNvPr id="11" name="d-payment frame"/>
          <p:cNvSpPr/>
          <p:nvPr/>
        </p:nvSpPr>
        <p:spPr>
          <a:xfrm>
            <a:off x="5010912" y="1353312"/>
            <a:ext cx="6620256" cy="4185666"/>
          </a:xfrm>
          <a:prstGeom prst="roundRect">
            <a:avLst>
              <a:gd name="adj" fmla="val 2622"/>
            </a:avLst>
          </a:prstGeom>
          <a:solidFill>
            <a:schemeClr val="accent4"/>
          </a:solidFill>
          <a:ln w="9525">
            <a:solidFill>
              <a:srgbClr val="0B0E14"/>
            </a:solidFill>
            <a:prstDash val="solid"/>
          </a:ln>
          <a:effectLst>
            <a:outerShdw blurRad="177800" dist="50800" dir="5400000" algn="bl" rotWithShape="0">
              <a:srgbClr val="000000">
                <a:alpha val="22000"/>
              </a:srgbClr>
            </a:outerShdw>
          </a:effectLst>
        </p:spPr>
      </p:sp>
      <p:pic>
        <p:nvPicPr>
          <p:cNvPr id="12" name="d-payment" descr="Payment step with UPI QR and transaction ID"/>
          <p:cNvPicPr>
            <a:picLocks noChangeAspect="1"/>
          </p:cNvPicPr>
          <p:nvPr/>
        </p:nvPicPr>
        <p:blipFill>
          <a:blip r:embed="rId3"/>
          <a:stretch>
            <a:fillRect/>
          </a:stretch>
        </p:blipFill>
        <p:spPr>
          <a:xfrm>
            <a:off x="5074920" y="1417320"/>
            <a:ext cx="6492240" cy="405765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400" b="1" dirty="0">
                <a:solidFill>
                  <a:schemeClr val="tx1"/>
                </a:solidFill>
              </a:rPr>
              <a:t>QR ticket at the gate, live attendance for organizers</a:t>
            </a:r>
            <a:endParaRPr lang="en-US" sz="3400" dirty="0"/>
          </a:p>
        </p:txBody>
      </p:sp>
      <p:sp>
        <p:nvSpPr>
          <p:cNvPr id="3" name="d-ticket frame"/>
          <p:cNvSpPr/>
          <p:nvPr/>
        </p:nvSpPr>
        <p:spPr>
          <a:xfrm>
            <a:off x="576072" y="1353312"/>
            <a:ext cx="5477256" cy="3471291"/>
          </a:xfrm>
          <a:prstGeom prst="roundRect">
            <a:avLst>
              <a:gd name="adj" fmla="val 3161"/>
            </a:avLst>
          </a:prstGeom>
          <a:solidFill>
            <a:schemeClr val="accent4"/>
          </a:solidFill>
          <a:ln w="9525">
            <a:solidFill>
              <a:srgbClr val="0B0E14"/>
            </a:solidFill>
            <a:prstDash val="solid"/>
          </a:ln>
          <a:effectLst>
            <a:outerShdw blurRad="177800" dist="50800" dir="5400000" algn="bl" rotWithShape="0">
              <a:srgbClr val="000000">
                <a:alpha val="22000"/>
              </a:srgbClr>
            </a:outerShdw>
          </a:effectLst>
        </p:spPr>
      </p:sp>
      <p:pic>
        <p:nvPicPr>
          <p:cNvPr id="4" name="d-ticket" descr="Student QR entry pass"/>
          <p:cNvPicPr>
            <a:picLocks noChangeAspect="1"/>
          </p:cNvPicPr>
          <p:nvPr/>
        </p:nvPicPr>
        <p:blipFill>
          <a:blip r:embed="rId3"/>
          <a:stretch>
            <a:fillRect/>
          </a:stretch>
        </p:blipFill>
        <p:spPr>
          <a:xfrm>
            <a:off x="640080" y="1417320"/>
            <a:ext cx="5349240" cy="3343275"/>
          </a:xfrm>
          <a:prstGeom prst="rect">
            <a:avLst/>
          </a:prstGeom>
        </p:spPr>
      </p:pic>
      <p:sp>
        <p:nvSpPr>
          <p:cNvPr id="5" name="d-scan frame"/>
          <p:cNvSpPr/>
          <p:nvPr/>
        </p:nvSpPr>
        <p:spPr>
          <a:xfrm>
            <a:off x="6199632" y="1353312"/>
            <a:ext cx="5477256" cy="3471291"/>
          </a:xfrm>
          <a:prstGeom prst="roundRect">
            <a:avLst>
              <a:gd name="adj" fmla="val 3161"/>
            </a:avLst>
          </a:prstGeom>
          <a:solidFill>
            <a:schemeClr val="accent4"/>
          </a:solidFill>
          <a:ln w="9525">
            <a:solidFill>
              <a:srgbClr val="0B0E14"/>
            </a:solidFill>
            <a:prstDash val="solid"/>
          </a:ln>
          <a:effectLst>
            <a:outerShdw blurRad="177800" dist="50800" dir="5400000" algn="bl" rotWithShape="0">
              <a:srgbClr val="000000">
                <a:alpha val="22000"/>
              </a:srgbClr>
            </a:outerShdw>
          </a:effectLst>
        </p:spPr>
      </p:sp>
      <p:pic>
        <p:nvPicPr>
          <p:cNvPr id="6" name="d-scan" descr="Volunteer scanner showing a valid pass"/>
          <p:cNvPicPr>
            <a:picLocks noChangeAspect="1"/>
          </p:cNvPicPr>
          <p:nvPr/>
        </p:nvPicPr>
        <p:blipFill>
          <a:blip r:embed="rId4"/>
          <a:stretch>
            <a:fillRect/>
          </a:stretch>
        </p:blipFill>
        <p:spPr>
          <a:xfrm>
            <a:off x="6263640" y="1417320"/>
            <a:ext cx="5349240" cy="3343275"/>
          </a:xfrm>
          <a:prstGeom prst="rect">
            <a:avLst/>
          </a:prstGeom>
        </p:spPr>
      </p:pic>
      <p:sp>
        <p:nvSpPr>
          <p:cNvPr id="7" name="ticket caption"/>
          <p:cNvSpPr txBox="1"/>
          <p:nvPr/>
        </p:nvSpPr>
        <p:spPr>
          <a:xfrm>
            <a:off x="640080" y="4989195"/>
            <a:ext cx="5349240" cy="457200"/>
          </a:xfrm>
          <a:prstGeom prst="rect">
            <a:avLst/>
          </a:prstGeom>
          <a:noFill/>
          <a:ln/>
        </p:spPr>
        <p:txBody>
          <a:bodyPr wrap="square" lIns="0" tIns="0" rIns="0" bIns="0" rtlCol="0" anchor="ctr"/>
          <a:lstStyle/>
          <a:p>
            <a:pPr marL="0" indent="0">
              <a:buNone/>
            </a:pPr>
            <a:r>
              <a:rPr lang="en-US" sz="1500" b="1" dirty="0">
                <a:solidFill>
                  <a:schemeClr val="accent1"/>
                </a:solidFill>
              </a:rPr>
              <a:t>Student  </a:t>
            </a:r>
            <a:r>
              <a:rPr lang="en-US" sz="1500" dirty="0">
                <a:solidFill>
                  <a:schemeClr val="tx1"/>
                </a:solidFill>
              </a:rPr>
              <a:t>One signed QR pass per team, saved to the phone</a:t>
            </a:r>
            <a:endParaRPr lang="en-US" sz="1500" dirty="0"/>
          </a:p>
        </p:txBody>
      </p:sp>
      <p:sp>
        <p:nvSpPr>
          <p:cNvPr id="8" name="scan caption"/>
          <p:cNvSpPr txBox="1"/>
          <p:nvPr/>
        </p:nvSpPr>
        <p:spPr>
          <a:xfrm>
            <a:off x="6263640" y="4989195"/>
            <a:ext cx="5349240" cy="457200"/>
          </a:xfrm>
          <a:prstGeom prst="rect">
            <a:avLst/>
          </a:prstGeom>
          <a:noFill/>
          <a:ln/>
        </p:spPr>
        <p:txBody>
          <a:bodyPr wrap="square" lIns="0" tIns="0" rIns="0" bIns="0" rtlCol="0" anchor="ctr"/>
          <a:lstStyle/>
          <a:p>
            <a:pPr marL="0" indent="0">
              <a:buNone/>
            </a:pPr>
            <a:r>
              <a:rPr lang="en-US" sz="1500" b="1" dirty="0">
                <a:solidFill>
                  <a:schemeClr val="accent2"/>
                </a:solidFill>
              </a:rPr>
              <a:t>Volunteer  </a:t>
            </a:r>
            <a:r>
              <a:rPr lang="en-US" sz="1500" dirty="0">
                <a:solidFill>
                  <a:schemeClr val="tx1"/>
                </a:solidFill>
              </a:rPr>
              <a:t>Scan, tick who's present, admit. Forged QR = rejected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400" b="1" dirty="0">
                <a:solidFill>
                  <a:schemeClr val="tx1"/>
                </a:solidFill>
              </a:rPr>
              <a:t>Host an event without spreadsheets</a:t>
            </a:r>
            <a:endParaRPr lang="en-US" sz="3400" dirty="0"/>
          </a:p>
        </p:txBody>
      </p:sp>
      <p:sp>
        <p:nvSpPr>
          <p:cNvPr id="3" name="d-verify frame"/>
          <p:cNvSpPr/>
          <p:nvPr/>
        </p:nvSpPr>
        <p:spPr>
          <a:xfrm>
            <a:off x="576072" y="1353312"/>
            <a:ext cx="6711696" cy="4242816"/>
          </a:xfrm>
          <a:prstGeom prst="roundRect">
            <a:avLst>
              <a:gd name="adj" fmla="val 2586"/>
            </a:avLst>
          </a:prstGeom>
          <a:solidFill>
            <a:schemeClr val="accent4"/>
          </a:solidFill>
          <a:ln w="9525">
            <a:solidFill>
              <a:srgbClr val="0B0E14"/>
            </a:solidFill>
            <a:prstDash val="solid"/>
          </a:ln>
          <a:effectLst>
            <a:outerShdw blurRad="177800" dist="50800" dir="5400000" algn="bl" rotWithShape="0">
              <a:srgbClr val="000000">
                <a:alpha val="22000"/>
              </a:srgbClr>
            </a:outerShdw>
          </a:effectLst>
        </p:spPr>
      </p:sp>
      <p:pic>
        <p:nvPicPr>
          <p:cNvPr id="4" name="d-verify" descr="Payment verification queue"/>
          <p:cNvPicPr>
            <a:picLocks noChangeAspect="1"/>
          </p:cNvPicPr>
          <p:nvPr/>
        </p:nvPicPr>
        <p:blipFill>
          <a:blip r:embed="rId3"/>
          <a:stretch>
            <a:fillRect/>
          </a:stretch>
        </p:blipFill>
        <p:spPr>
          <a:xfrm>
            <a:off x="640080" y="1417320"/>
            <a:ext cx="6583680" cy="4114800"/>
          </a:xfrm>
          <a:prstGeom prst="rect">
            <a:avLst/>
          </a:prstGeom>
        </p:spPr>
      </p:pic>
      <p:sp>
        <p:nvSpPr>
          <p:cNvPr id="5" name="point 1 dot"/>
          <p:cNvSpPr/>
          <p:nvPr/>
        </p:nvSpPr>
        <p:spPr>
          <a:xfrm>
            <a:off x="7726680" y="1527048"/>
            <a:ext cx="182880" cy="182880"/>
          </a:xfrm>
          <a:prstGeom prst="ellipse">
            <a:avLst/>
          </a:prstGeom>
          <a:solidFill>
            <a:schemeClr val="accent2"/>
          </a:solidFill>
          <a:ln/>
        </p:spPr>
      </p:sp>
      <p:sp>
        <p:nvSpPr>
          <p:cNvPr id="6" name="point 1"/>
          <p:cNvSpPr txBox="1"/>
          <p:nvPr/>
        </p:nvSpPr>
        <p:spPr>
          <a:xfrm>
            <a:off x="8074152" y="14630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Complete event form</a:t>
            </a:r>
            <a:endParaRPr lang="en-US" sz="1500" dirty="0"/>
          </a:p>
          <a:p>
            <a:pPr marL="0" indent="0">
              <a:spcAft>
                <a:spcPts val="200"/>
              </a:spcAft>
              <a:buNone/>
            </a:pPr>
            <a:r>
              <a:rPr lang="en-US" sz="1500" dirty="0">
                <a:solidFill>
                  <a:schemeClr val="tx2"/>
                </a:solidFill>
              </a:rPr>
              <a:t>Poster, rules, schedule, team size, fee, QR, WhatsApp link</a:t>
            </a:r>
            <a:endParaRPr lang="en-US" sz="1500" dirty="0"/>
          </a:p>
        </p:txBody>
      </p:sp>
      <p:sp>
        <p:nvSpPr>
          <p:cNvPr id="7" name="point 2 dot"/>
          <p:cNvSpPr/>
          <p:nvPr/>
        </p:nvSpPr>
        <p:spPr>
          <a:xfrm>
            <a:off x="7726680" y="2441448"/>
            <a:ext cx="182880" cy="182880"/>
          </a:xfrm>
          <a:prstGeom prst="ellipse">
            <a:avLst/>
          </a:prstGeom>
          <a:solidFill>
            <a:schemeClr val="accent2"/>
          </a:solidFill>
          <a:ln/>
        </p:spPr>
      </p:sp>
      <p:sp>
        <p:nvSpPr>
          <p:cNvPr id="8" name="point 2"/>
          <p:cNvSpPr txBox="1"/>
          <p:nvPr/>
        </p:nvSpPr>
        <p:spPr>
          <a:xfrm>
            <a:off x="8074152" y="23774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Venue clash alert</a:t>
            </a:r>
            <a:endParaRPr lang="en-US" sz="1500" dirty="0"/>
          </a:p>
          <a:p>
            <a:pPr marL="0" indent="0">
              <a:spcAft>
                <a:spcPts val="200"/>
              </a:spcAft>
              <a:buNone/>
            </a:pPr>
            <a:r>
              <a:rPr lang="en-US" sz="1500" dirty="0">
                <a:solidFill>
                  <a:schemeClr val="tx2"/>
                </a:solidFill>
              </a:rPr>
              <a:t>Warned while saving if the venue is already booked</a:t>
            </a:r>
            <a:endParaRPr lang="en-US" sz="1500" dirty="0"/>
          </a:p>
        </p:txBody>
      </p:sp>
      <p:sp>
        <p:nvSpPr>
          <p:cNvPr id="9" name="point 3 dot"/>
          <p:cNvSpPr/>
          <p:nvPr/>
        </p:nvSpPr>
        <p:spPr>
          <a:xfrm>
            <a:off x="7726680" y="3355848"/>
            <a:ext cx="182880" cy="182880"/>
          </a:xfrm>
          <a:prstGeom prst="ellipse">
            <a:avLst/>
          </a:prstGeom>
          <a:solidFill>
            <a:schemeClr val="accent2"/>
          </a:solidFill>
          <a:ln/>
        </p:spPr>
      </p:sp>
      <p:sp>
        <p:nvSpPr>
          <p:cNvPr id="10" name="point 3"/>
          <p:cNvSpPr txBox="1"/>
          <p:nvPr/>
        </p:nvSpPr>
        <p:spPr>
          <a:xfrm>
            <a:off x="8074152" y="32918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Verify payments</a:t>
            </a:r>
            <a:endParaRPr lang="en-US" sz="1500" dirty="0"/>
          </a:p>
          <a:p>
            <a:pPr marL="0" indent="0">
              <a:spcAft>
                <a:spcPts val="200"/>
              </a:spcAft>
              <a:buNone/>
            </a:pPr>
            <a:r>
              <a:rPr lang="en-US" sz="1500" dirty="0">
                <a:solidFill>
                  <a:schemeClr val="tx2"/>
                </a:solidFill>
              </a:rPr>
              <a:t>Approve, or reject with a reason; team can resubmit</a:t>
            </a:r>
            <a:endParaRPr lang="en-US" sz="1500" dirty="0"/>
          </a:p>
        </p:txBody>
      </p:sp>
      <p:sp>
        <p:nvSpPr>
          <p:cNvPr id="11" name="point 4 dot"/>
          <p:cNvSpPr/>
          <p:nvPr/>
        </p:nvSpPr>
        <p:spPr>
          <a:xfrm>
            <a:off x="7726680" y="4270248"/>
            <a:ext cx="182880" cy="182880"/>
          </a:xfrm>
          <a:prstGeom prst="ellipse">
            <a:avLst/>
          </a:prstGeom>
          <a:solidFill>
            <a:schemeClr val="accent2"/>
          </a:solidFill>
          <a:ln/>
        </p:spPr>
      </p:sp>
      <p:sp>
        <p:nvSpPr>
          <p:cNvPr id="12" name="point 4"/>
          <p:cNvSpPr txBox="1"/>
          <p:nvPr/>
        </p:nvSpPr>
        <p:spPr>
          <a:xfrm>
            <a:off x="8074152" y="42062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Auto WhatsApp link</a:t>
            </a:r>
            <a:endParaRPr lang="en-US" sz="1500" dirty="0"/>
          </a:p>
          <a:p>
            <a:pPr marL="0" indent="0">
              <a:spcAft>
                <a:spcPts val="200"/>
              </a:spcAft>
              <a:buNone/>
            </a:pPr>
            <a:r>
              <a:rPr lang="en-US" sz="1500" dirty="0">
                <a:solidFill>
                  <a:schemeClr val="tx2"/>
                </a:solidFill>
              </a:rPr>
              <a:t>Sent to the team the moment they are approved</a:t>
            </a:r>
            <a:endParaRPr lang="en-US" sz="1500" dirty="0"/>
          </a:p>
        </p:txBody>
      </p:sp>
      <p:sp>
        <p:nvSpPr>
          <p:cNvPr id="13" name="point 5 dot"/>
          <p:cNvSpPr/>
          <p:nvPr/>
        </p:nvSpPr>
        <p:spPr>
          <a:xfrm>
            <a:off x="7726680" y="5184648"/>
            <a:ext cx="182880" cy="182880"/>
          </a:xfrm>
          <a:prstGeom prst="ellipse">
            <a:avLst/>
          </a:prstGeom>
          <a:solidFill>
            <a:schemeClr val="accent2"/>
          </a:solidFill>
          <a:ln/>
        </p:spPr>
      </p:sp>
      <p:sp>
        <p:nvSpPr>
          <p:cNvPr id="14" name="point 5"/>
          <p:cNvSpPr txBox="1"/>
          <p:nvPr/>
        </p:nvSpPr>
        <p:spPr>
          <a:xfrm>
            <a:off x="8074152" y="51206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One-click Excel export</a:t>
            </a:r>
            <a:endParaRPr lang="en-US" sz="1500" dirty="0"/>
          </a:p>
          <a:p>
            <a:pPr marL="0" indent="0">
              <a:spcAft>
                <a:spcPts val="200"/>
              </a:spcAft>
              <a:buNone/>
            </a:pPr>
            <a:r>
              <a:rPr lang="en-US" sz="1500" dirty="0">
                <a:solidFill>
                  <a:schemeClr val="tx2"/>
                </a:solidFill>
              </a:rPr>
              <a:t>Teams sheet + Participants sheet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400" b="1" dirty="0">
                <a:solidFill>
                  <a:schemeClr val="tx1"/>
                </a:solidFill>
              </a:rPr>
              <a:t>Organizer dashboard and live analytics</a:t>
            </a:r>
            <a:endParaRPr lang="en-US" sz="3400" dirty="0"/>
          </a:p>
        </p:txBody>
      </p:sp>
      <p:sp>
        <p:nvSpPr>
          <p:cNvPr id="3" name="d-club frame"/>
          <p:cNvSpPr/>
          <p:nvPr/>
        </p:nvSpPr>
        <p:spPr>
          <a:xfrm>
            <a:off x="576072" y="1353312"/>
            <a:ext cx="5477256" cy="3471291"/>
          </a:xfrm>
          <a:prstGeom prst="roundRect">
            <a:avLst>
              <a:gd name="adj" fmla="val 3161"/>
            </a:avLst>
          </a:prstGeom>
          <a:solidFill>
            <a:schemeClr val="accent4"/>
          </a:solidFill>
          <a:ln w="9525">
            <a:solidFill>
              <a:srgbClr val="0B0E14"/>
            </a:solidFill>
            <a:prstDash val="solid"/>
          </a:ln>
          <a:effectLst>
            <a:outerShdw blurRad="177800" dist="50800" dir="5400000" algn="bl" rotWithShape="0">
              <a:srgbClr val="000000">
                <a:alpha val="22000"/>
              </a:srgbClr>
            </a:outerShdw>
          </a:effectLst>
        </p:spPr>
      </p:sp>
      <p:pic>
        <p:nvPicPr>
          <p:cNvPr id="4" name="d-club" descr="Club dashboard"/>
          <p:cNvPicPr>
            <a:picLocks noChangeAspect="1"/>
          </p:cNvPicPr>
          <p:nvPr/>
        </p:nvPicPr>
        <p:blipFill>
          <a:blip r:embed="rId3"/>
          <a:stretch>
            <a:fillRect/>
          </a:stretch>
        </p:blipFill>
        <p:spPr>
          <a:xfrm>
            <a:off x="640080" y="1417320"/>
            <a:ext cx="5349240" cy="3343275"/>
          </a:xfrm>
          <a:prstGeom prst="rect">
            <a:avLst/>
          </a:prstGeom>
        </p:spPr>
      </p:pic>
      <p:sp>
        <p:nvSpPr>
          <p:cNvPr id="5" name="d-admin frame"/>
          <p:cNvSpPr/>
          <p:nvPr/>
        </p:nvSpPr>
        <p:spPr>
          <a:xfrm>
            <a:off x="6199632" y="1353312"/>
            <a:ext cx="5477256" cy="3471291"/>
          </a:xfrm>
          <a:prstGeom prst="roundRect">
            <a:avLst>
              <a:gd name="adj" fmla="val 3161"/>
            </a:avLst>
          </a:prstGeom>
          <a:solidFill>
            <a:schemeClr val="accent4"/>
          </a:solidFill>
          <a:ln w="9525">
            <a:solidFill>
              <a:srgbClr val="0B0E14"/>
            </a:solidFill>
            <a:prstDash val="solid"/>
          </a:ln>
          <a:effectLst>
            <a:outerShdw blurRad="177800" dist="50800" dir="5400000" algn="bl" rotWithShape="0">
              <a:srgbClr val="000000">
                <a:alpha val="22000"/>
              </a:srgbClr>
            </a:outerShdw>
          </a:effectLst>
        </p:spPr>
      </p:sp>
      <p:pic>
        <p:nvPicPr>
          <p:cNvPr id="6" name="d-admin" descr="Admin overview with chart"/>
          <p:cNvPicPr>
            <a:picLocks noChangeAspect="1"/>
          </p:cNvPicPr>
          <p:nvPr/>
        </p:nvPicPr>
        <p:blipFill>
          <a:blip r:embed="rId4"/>
          <a:stretch>
            <a:fillRect/>
          </a:stretch>
        </p:blipFill>
        <p:spPr>
          <a:xfrm>
            <a:off x="6263640" y="1417320"/>
            <a:ext cx="5349240" cy="3343275"/>
          </a:xfrm>
          <a:prstGeom prst="rect">
            <a:avLst/>
          </a:prstGeom>
        </p:spPr>
      </p:pic>
      <p:sp>
        <p:nvSpPr>
          <p:cNvPr id="7" name="club caption"/>
          <p:cNvSpPr txBox="1"/>
          <p:nvPr/>
        </p:nvSpPr>
        <p:spPr>
          <a:xfrm>
            <a:off x="640080" y="4989195"/>
            <a:ext cx="5349240" cy="457200"/>
          </a:xfrm>
          <a:prstGeom prst="rect">
            <a:avLst/>
          </a:prstGeom>
          <a:noFill/>
          <a:ln/>
        </p:spPr>
        <p:txBody>
          <a:bodyPr wrap="square" lIns="0" tIns="0" rIns="0" bIns="0" rtlCol="0" anchor="ctr"/>
          <a:lstStyle/>
          <a:p>
            <a:pPr marL="0" indent="0">
              <a:buNone/>
            </a:pPr>
            <a:r>
              <a:rPr lang="en-US" sz="1500" b="1" dirty="0">
                <a:solidFill>
                  <a:schemeClr val="accent2"/>
                </a:solidFill>
              </a:rPr>
              <a:t>Club  </a:t>
            </a:r>
            <a:r>
              <a:rPr lang="en-US" sz="1500" dirty="0">
                <a:solidFill>
                  <a:schemeClr val="tx1"/>
                </a:solidFill>
              </a:rPr>
              <a:t>Payments to verify, confirmed teams, fees, capacity per event</a:t>
            </a:r>
            <a:endParaRPr lang="en-US" sz="1500" dirty="0"/>
          </a:p>
        </p:txBody>
      </p:sp>
      <p:sp>
        <p:nvSpPr>
          <p:cNvPr id="8" name="admin caption"/>
          <p:cNvSpPr txBox="1"/>
          <p:nvPr/>
        </p:nvSpPr>
        <p:spPr>
          <a:xfrm>
            <a:off x="6263640" y="4989195"/>
            <a:ext cx="5349240" cy="457200"/>
          </a:xfrm>
          <a:prstGeom prst="rect">
            <a:avLst/>
          </a:prstGeom>
          <a:noFill/>
          <a:ln/>
        </p:spPr>
        <p:txBody>
          <a:bodyPr wrap="square" lIns="0" tIns="0" rIns="0" bIns="0" rtlCol="0" anchor="ctr"/>
          <a:lstStyle/>
          <a:p>
            <a:pPr marL="0" indent="0">
              <a:buNone/>
            </a:pPr>
            <a:r>
              <a:rPr lang="en-US" sz="1500" b="1" dirty="0">
                <a:solidFill>
                  <a:schemeClr val="accent3"/>
                </a:solidFill>
              </a:rPr>
              <a:t>Admin  </a:t>
            </a:r>
            <a:r>
              <a:rPr lang="en-US" sz="1500" dirty="0">
                <a:solidFill>
                  <a:schemeClr val="tx1"/>
                </a:solidFill>
              </a:rPr>
              <a:t>Portal-wide registrations, per-club ranking, open complaints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400" b="1" dirty="0">
                <a:solidFill>
                  <a:schemeClr val="tx1"/>
                </a:solidFill>
              </a:rPr>
              <a:t>Digital approvals and portal-wide control</a:t>
            </a:r>
            <a:endParaRPr lang="en-US" sz="3400" dirty="0"/>
          </a:p>
        </p:txBody>
      </p:sp>
      <p:sp>
        <p:nvSpPr>
          <p:cNvPr id="3" name="point 1 dot"/>
          <p:cNvSpPr/>
          <p:nvPr/>
        </p:nvSpPr>
        <p:spPr>
          <a:xfrm>
            <a:off x="548640" y="1527048"/>
            <a:ext cx="182880" cy="182880"/>
          </a:xfrm>
          <a:prstGeom prst="ellipse">
            <a:avLst/>
          </a:prstGeom>
          <a:solidFill>
            <a:schemeClr val="accent3"/>
          </a:solidFill>
          <a:ln/>
        </p:spPr>
      </p:sp>
      <p:sp>
        <p:nvSpPr>
          <p:cNvPr id="4" name="point 1"/>
          <p:cNvSpPr txBox="1"/>
          <p:nvPr/>
        </p:nvSpPr>
        <p:spPr>
          <a:xfrm>
            <a:off x="896112" y="1463040"/>
            <a:ext cx="367588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Approve or request changes</a:t>
            </a:r>
            <a:endParaRPr lang="en-US" sz="1500" dirty="0"/>
          </a:p>
          <a:p>
            <a:pPr marL="0" indent="0">
              <a:spcAft>
                <a:spcPts val="200"/>
              </a:spcAft>
              <a:buNone/>
            </a:pPr>
            <a:r>
              <a:rPr lang="en-US" sz="1500" dirty="0">
                <a:solidFill>
                  <a:schemeClr val="tx2"/>
                </a:solidFill>
              </a:rPr>
              <a:t>With notes; the club edits and resubmits</a:t>
            </a:r>
            <a:endParaRPr lang="en-US" sz="1500" dirty="0"/>
          </a:p>
        </p:txBody>
      </p:sp>
      <p:sp>
        <p:nvSpPr>
          <p:cNvPr id="5" name="point 2 dot"/>
          <p:cNvSpPr/>
          <p:nvPr/>
        </p:nvSpPr>
        <p:spPr>
          <a:xfrm>
            <a:off x="548640" y="2441448"/>
            <a:ext cx="182880" cy="182880"/>
          </a:xfrm>
          <a:prstGeom prst="ellipse">
            <a:avLst/>
          </a:prstGeom>
          <a:solidFill>
            <a:schemeClr val="accent3"/>
          </a:solidFill>
          <a:ln/>
        </p:spPr>
      </p:sp>
      <p:sp>
        <p:nvSpPr>
          <p:cNvPr id="6" name="point 2"/>
          <p:cNvSpPr txBox="1"/>
          <p:nvPr/>
        </p:nvSpPr>
        <p:spPr>
          <a:xfrm>
            <a:off x="896112" y="2377440"/>
            <a:ext cx="367588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Clashes flagged</a:t>
            </a:r>
            <a:endParaRPr lang="en-US" sz="1500" dirty="0"/>
          </a:p>
          <a:p>
            <a:pPr marL="0" indent="0">
              <a:spcAft>
                <a:spcPts val="200"/>
              </a:spcAft>
              <a:buNone/>
            </a:pPr>
            <a:r>
              <a:rPr lang="en-US" sz="1500" dirty="0">
                <a:solidFill>
                  <a:schemeClr val="tx2"/>
                </a:solidFill>
              </a:rPr>
              <a:t>Overlapping venue bookings shown in the queue</a:t>
            </a:r>
            <a:endParaRPr lang="en-US" sz="1500" dirty="0"/>
          </a:p>
        </p:txBody>
      </p:sp>
      <p:sp>
        <p:nvSpPr>
          <p:cNvPr id="7" name="point 3 dot"/>
          <p:cNvSpPr/>
          <p:nvPr/>
        </p:nvSpPr>
        <p:spPr>
          <a:xfrm>
            <a:off x="548640" y="3355848"/>
            <a:ext cx="182880" cy="182880"/>
          </a:xfrm>
          <a:prstGeom prst="ellipse">
            <a:avLst/>
          </a:prstGeom>
          <a:solidFill>
            <a:schemeClr val="accent3"/>
          </a:solidFill>
          <a:ln/>
        </p:spPr>
      </p:sp>
      <p:sp>
        <p:nvSpPr>
          <p:cNvPr id="8" name="point 3"/>
          <p:cNvSpPr txBox="1"/>
          <p:nvPr/>
        </p:nvSpPr>
        <p:spPr>
          <a:xfrm>
            <a:off x="896112" y="3291840"/>
            <a:ext cx="367588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Feature events</a:t>
            </a:r>
            <a:endParaRPr lang="en-US" sz="1500" dirty="0"/>
          </a:p>
          <a:p>
            <a:pPr marL="0" indent="0">
              <a:spcAft>
                <a:spcPts val="200"/>
              </a:spcAft>
              <a:buNone/>
            </a:pPr>
            <a:r>
              <a:rPr lang="en-US" sz="1500" dirty="0">
                <a:solidFill>
                  <a:schemeClr val="tx2"/>
                </a:solidFill>
              </a:rPr>
              <a:t>Pin the best events to every student home</a:t>
            </a:r>
            <a:endParaRPr lang="en-US" sz="1500" dirty="0"/>
          </a:p>
        </p:txBody>
      </p:sp>
      <p:sp>
        <p:nvSpPr>
          <p:cNvPr id="9" name="point 4 dot"/>
          <p:cNvSpPr/>
          <p:nvPr/>
        </p:nvSpPr>
        <p:spPr>
          <a:xfrm>
            <a:off x="548640" y="4270248"/>
            <a:ext cx="182880" cy="182880"/>
          </a:xfrm>
          <a:prstGeom prst="ellipse">
            <a:avLst/>
          </a:prstGeom>
          <a:solidFill>
            <a:schemeClr val="accent3"/>
          </a:solidFill>
          <a:ln/>
        </p:spPr>
      </p:sp>
      <p:sp>
        <p:nvSpPr>
          <p:cNvPr id="10" name="point 4"/>
          <p:cNvSpPr txBox="1"/>
          <p:nvPr/>
        </p:nvSpPr>
        <p:spPr>
          <a:xfrm>
            <a:off x="896112" y="4206240"/>
            <a:ext cx="367588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Department-wise admins</a:t>
            </a:r>
            <a:endParaRPr lang="en-US" sz="1500" dirty="0"/>
          </a:p>
          <a:p>
            <a:pPr marL="0" indent="0">
              <a:spcAft>
                <a:spcPts val="200"/>
              </a:spcAft>
              <a:buNone/>
            </a:pPr>
            <a:r>
              <a:rPr lang="en-US" sz="1500" dirty="0">
                <a:solidFill>
                  <a:schemeClr val="tx2"/>
                </a:solidFill>
              </a:rPr>
              <a:t>Create clubs and their admin logins</a:t>
            </a:r>
            <a:endParaRPr lang="en-US" sz="1500" dirty="0"/>
          </a:p>
        </p:txBody>
      </p:sp>
      <p:sp>
        <p:nvSpPr>
          <p:cNvPr id="11" name="point 5 dot"/>
          <p:cNvSpPr/>
          <p:nvPr/>
        </p:nvSpPr>
        <p:spPr>
          <a:xfrm>
            <a:off x="548640" y="5184648"/>
            <a:ext cx="182880" cy="182880"/>
          </a:xfrm>
          <a:prstGeom prst="ellipse">
            <a:avLst/>
          </a:prstGeom>
          <a:solidFill>
            <a:schemeClr val="accent3"/>
          </a:solidFill>
          <a:ln/>
        </p:spPr>
      </p:sp>
      <p:sp>
        <p:nvSpPr>
          <p:cNvPr id="12" name="point 5"/>
          <p:cNvSpPr txBox="1"/>
          <p:nvPr/>
        </p:nvSpPr>
        <p:spPr>
          <a:xfrm>
            <a:off x="896112" y="5120640"/>
            <a:ext cx="367588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Complaints &amp; broadcasts</a:t>
            </a:r>
            <a:endParaRPr lang="en-US" sz="1500" dirty="0"/>
          </a:p>
          <a:p>
            <a:pPr marL="0" indent="0">
              <a:spcAft>
                <a:spcPts val="200"/>
              </a:spcAft>
              <a:buNone/>
            </a:pPr>
            <a:r>
              <a:rPr lang="en-US" sz="1500" dirty="0">
                <a:solidFill>
                  <a:schemeClr val="tx2"/>
                </a:solidFill>
              </a:rPr>
              <a:t>Reply to clubs, announce to everyone</a:t>
            </a:r>
            <a:endParaRPr lang="en-US" sz="1500" dirty="0"/>
          </a:p>
        </p:txBody>
      </p:sp>
      <p:sp>
        <p:nvSpPr>
          <p:cNvPr id="13" name="d-approve frame"/>
          <p:cNvSpPr/>
          <p:nvPr/>
        </p:nvSpPr>
        <p:spPr>
          <a:xfrm>
            <a:off x="5010912" y="1353312"/>
            <a:ext cx="6620256" cy="4185666"/>
          </a:xfrm>
          <a:prstGeom prst="roundRect">
            <a:avLst>
              <a:gd name="adj" fmla="val 2622"/>
            </a:avLst>
          </a:prstGeom>
          <a:solidFill>
            <a:schemeClr val="accent4"/>
          </a:solidFill>
          <a:ln w="9525">
            <a:solidFill>
              <a:srgbClr val="0B0E14"/>
            </a:solidFill>
            <a:prstDash val="solid"/>
          </a:ln>
          <a:effectLst>
            <a:outerShdw blurRad="177800" dist="50800" dir="5400000" algn="bl" rotWithShape="0">
              <a:srgbClr val="000000">
                <a:alpha val="22000"/>
              </a:srgbClr>
            </a:outerShdw>
          </a:effectLst>
        </p:spPr>
      </p:sp>
      <p:pic>
        <p:nvPicPr>
          <p:cNvPr id="14" name="d-approve" descr="Admin event approval queue"/>
          <p:cNvPicPr>
            <a:picLocks noChangeAspect="1"/>
          </p:cNvPicPr>
          <p:nvPr/>
        </p:nvPicPr>
        <p:blipFill>
          <a:blip r:embed="rId3"/>
          <a:stretch>
            <a:fillRect/>
          </a:stretch>
        </p:blipFill>
        <p:spPr>
          <a:xfrm>
            <a:off x="5074920" y="1417320"/>
            <a:ext cx="6492240" cy="405765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400" b="1" dirty="0">
                <a:solidFill>
                  <a:schemeClr val="tx1"/>
                </a:solidFill>
              </a:rPr>
              <a:t>After the event: feedback and certificates</a:t>
            </a:r>
            <a:endParaRPr lang="en-US" sz="3400" dirty="0"/>
          </a:p>
        </p:txBody>
      </p:sp>
      <p:sp>
        <p:nvSpPr>
          <p:cNvPr id="3" name="d-cert frame"/>
          <p:cNvSpPr/>
          <p:nvPr/>
        </p:nvSpPr>
        <p:spPr>
          <a:xfrm>
            <a:off x="576072" y="1353312"/>
            <a:ext cx="6711696" cy="4242816"/>
          </a:xfrm>
          <a:prstGeom prst="roundRect">
            <a:avLst>
              <a:gd name="adj" fmla="val 2586"/>
            </a:avLst>
          </a:prstGeom>
          <a:solidFill>
            <a:schemeClr val="accent4"/>
          </a:solidFill>
          <a:ln w="9525">
            <a:solidFill>
              <a:srgbClr val="0B0E14"/>
            </a:solidFill>
            <a:prstDash val="solid"/>
          </a:ln>
          <a:effectLst>
            <a:outerShdw blurRad="177800" dist="50800" dir="5400000" algn="bl" rotWithShape="0">
              <a:srgbClr val="000000">
                <a:alpha val="22000"/>
              </a:srgbClr>
            </a:outerShdw>
          </a:effectLst>
        </p:spPr>
      </p:sp>
      <p:pic>
        <p:nvPicPr>
          <p:cNvPr id="4" name="d-cert" descr="Verified certificate of achievement"/>
          <p:cNvPicPr>
            <a:picLocks noChangeAspect="1"/>
          </p:cNvPicPr>
          <p:nvPr/>
        </p:nvPicPr>
        <p:blipFill>
          <a:blip r:embed="rId3"/>
          <a:stretch>
            <a:fillRect/>
          </a:stretch>
        </p:blipFill>
        <p:spPr>
          <a:xfrm>
            <a:off x="640080" y="1417320"/>
            <a:ext cx="6583680" cy="4114800"/>
          </a:xfrm>
          <a:prstGeom prst="rect">
            <a:avLst/>
          </a:prstGeom>
        </p:spPr>
      </p:pic>
      <p:sp>
        <p:nvSpPr>
          <p:cNvPr id="5" name="point 1 dot"/>
          <p:cNvSpPr/>
          <p:nvPr/>
        </p:nvSpPr>
        <p:spPr>
          <a:xfrm>
            <a:off x="7726680" y="1527048"/>
            <a:ext cx="182880" cy="182880"/>
          </a:xfrm>
          <a:prstGeom prst="ellipse">
            <a:avLst/>
          </a:prstGeom>
          <a:solidFill>
            <a:schemeClr val="accent1"/>
          </a:solidFill>
          <a:ln/>
        </p:spPr>
      </p:sp>
      <p:sp>
        <p:nvSpPr>
          <p:cNvPr id="6" name="point 1"/>
          <p:cNvSpPr txBox="1"/>
          <p:nvPr/>
        </p:nvSpPr>
        <p:spPr>
          <a:xfrm>
            <a:off x="8074152" y="14630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Feedback by QR</a:t>
            </a:r>
            <a:endParaRPr lang="en-US" sz="1500" dirty="0"/>
          </a:p>
          <a:p>
            <a:pPr marL="0" indent="0">
              <a:spcAft>
                <a:spcPts val="200"/>
              </a:spcAft>
              <a:buNone/>
            </a:pPr>
            <a:r>
              <a:rPr lang="en-US" sz="1500" dirty="0">
                <a:solidFill>
                  <a:schemeClr val="tx2"/>
                </a:solidFill>
              </a:rPr>
              <a:t>Shown on screen at the end; registered students rate the event</a:t>
            </a:r>
            <a:endParaRPr lang="en-US" sz="1500" dirty="0"/>
          </a:p>
        </p:txBody>
      </p:sp>
      <p:sp>
        <p:nvSpPr>
          <p:cNvPr id="7" name="point 2 dot"/>
          <p:cNvSpPr/>
          <p:nvPr/>
        </p:nvSpPr>
        <p:spPr>
          <a:xfrm>
            <a:off x="7726680" y="2441448"/>
            <a:ext cx="182880" cy="182880"/>
          </a:xfrm>
          <a:prstGeom prst="ellipse">
            <a:avLst/>
          </a:prstGeom>
          <a:solidFill>
            <a:schemeClr val="accent1"/>
          </a:solidFill>
          <a:ln/>
        </p:spPr>
      </p:sp>
      <p:sp>
        <p:nvSpPr>
          <p:cNvPr id="8" name="point 2"/>
          <p:cNvSpPr txBox="1"/>
          <p:nvPr/>
        </p:nvSpPr>
        <p:spPr>
          <a:xfrm>
            <a:off x="8074152" y="23774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Awards</a:t>
            </a:r>
            <a:endParaRPr lang="en-US" sz="1500" dirty="0"/>
          </a:p>
          <a:p>
            <a:pPr marL="0" indent="0">
              <a:spcAft>
                <a:spcPts val="200"/>
              </a:spcAft>
              <a:buNone/>
            </a:pPr>
            <a:r>
              <a:rPr lang="en-US" sz="1500" dirty="0">
                <a:solidFill>
                  <a:schemeClr val="tx2"/>
                </a:solidFill>
              </a:rPr>
              <a:t>Winner, Runner-up, Special Mention</a:t>
            </a:r>
            <a:endParaRPr lang="en-US" sz="1500" dirty="0"/>
          </a:p>
        </p:txBody>
      </p:sp>
      <p:sp>
        <p:nvSpPr>
          <p:cNvPr id="9" name="point 3 dot"/>
          <p:cNvSpPr/>
          <p:nvPr/>
        </p:nvSpPr>
        <p:spPr>
          <a:xfrm>
            <a:off x="7726680" y="3355848"/>
            <a:ext cx="182880" cy="182880"/>
          </a:xfrm>
          <a:prstGeom prst="ellipse">
            <a:avLst/>
          </a:prstGeom>
          <a:solidFill>
            <a:schemeClr val="accent1"/>
          </a:solidFill>
          <a:ln/>
        </p:spPr>
      </p:sp>
      <p:sp>
        <p:nvSpPr>
          <p:cNvPr id="10" name="point 3"/>
          <p:cNvSpPr txBox="1"/>
          <p:nvPr/>
        </p:nvSpPr>
        <p:spPr>
          <a:xfrm>
            <a:off x="8074152" y="32918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Certificates for attendees</a:t>
            </a:r>
            <a:endParaRPr lang="en-US" sz="1500" dirty="0"/>
          </a:p>
          <a:p>
            <a:pPr marL="0" indent="0">
              <a:spcAft>
                <a:spcPts val="200"/>
              </a:spcAft>
              <a:buNone/>
            </a:pPr>
            <a:r>
              <a:rPr lang="en-US" sz="1500" dirty="0">
                <a:solidFill>
                  <a:schemeClr val="tx2"/>
                </a:solidFill>
              </a:rPr>
              <a:t>Generated from QR check-in data</a:t>
            </a:r>
            <a:endParaRPr lang="en-US" sz="1500" dirty="0"/>
          </a:p>
        </p:txBody>
      </p:sp>
      <p:sp>
        <p:nvSpPr>
          <p:cNvPr id="11" name="point 4 dot"/>
          <p:cNvSpPr/>
          <p:nvPr/>
        </p:nvSpPr>
        <p:spPr>
          <a:xfrm>
            <a:off x="7726680" y="4270248"/>
            <a:ext cx="182880" cy="182880"/>
          </a:xfrm>
          <a:prstGeom prst="ellipse">
            <a:avLst/>
          </a:prstGeom>
          <a:solidFill>
            <a:schemeClr val="accent1"/>
          </a:solidFill>
          <a:ln/>
        </p:spPr>
      </p:sp>
      <p:sp>
        <p:nvSpPr>
          <p:cNvPr id="12" name="point 4"/>
          <p:cNvSpPr txBox="1"/>
          <p:nvPr/>
        </p:nvSpPr>
        <p:spPr>
          <a:xfrm>
            <a:off x="8074152" y="42062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Sent to the team leader</a:t>
            </a:r>
            <a:endParaRPr lang="en-US" sz="1500" dirty="0"/>
          </a:p>
          <a:p>
            <a:pPr marL="0" indent="0">
              <a:spcAft>
                <a:spcPts val="200"/>
              </a:spcAft>
              <a:buNone/>
            </a:pPr>
            <a:r>
              <a:rPr lang="en-US" sz="1500" dirty="0">
                <a:solidFill>
                  <a:schemeClr val="tx2"/>
                </a:solidFill>
              </a:rPr>
              <a:t>Every member's certificate, printable as PDF</a:t>
            </a:r>
            <a:endParaRPr lang="en-US" sz="1500" dirty="0"/>
          </a:p>
        </p:txBody>
      </p:sp>
      <p:sp>
        <p:nvSpPr>
          <p:cNvPr id="13" name="point 5 dot"/>
          <p:cNvSpPr/>
          <p:nvPr/>
        </p:nvSpPr>
        <p:spPr>
          <a:xfrm>
            <a:off x="7726680" y="5184648"/>
            <a:ext cx="182880" cy="182880"/>
          </a:xfrm>
          <a:prstGeom prst="ellipse">
            <a:avLst/>
          </a:prstGeom>
          <a:solidFill>
            <a:schemeClr val="accent1"/>
          </a:solidFill>
          <a:ln/>
        </p:spPr>
      </p:sp>
      <p:sp>
        <p:nvSpPr>
          <p:cNvPr id="14" name="point 5"/>
          <p:cNvSpPr txBox="1"/>
          <p:nvPr/>
        </p:nvSpPr>
        <p:spPr>
          <a:xfrm>
            <a:off x="8074152" y="51206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Verifiable</a:t>
            </a:r>
            <a:endParaRPr lang="en-US" sz="1500" dirty="0"/>
          </a:p>
          <a:p>
            <a:pPr marL="0" indent="0">
              <a:spcAft>
                <a:spcPts val="200"/>
              </a:spcAft>
              <a:buNone/>
            </a:pPr>
            <a:r>
              <a:rPr lang="en-US" sz="1500" dirty="0">
                <a:solidFill>
                  <a:schemeClr val="tx2"/>
                </a:solidFill>
              </a:rPr>
              <a:t>Scan the certificate QR to confirm it is genuine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400" b="1" dirty="0">
                <a:solidFill>
                  <a:schemeClr val="tx1"/>
                </a:solidFill>
              </a:rPr>
              <a:t>Problem Statement 1: what CampusPulse covers</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4389120"/>
        </p:xfrm>
        <a:graphic>
          <a:graphicData uri="http://schemas.openxmlformats.org/drawingml/2006/table">
            <a:tbl>
              <a:tblPr/>
              <a:tblGrid>
                <a:gridCol w="365760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548640">
                <a:tc>
                  <a:txBody>
                    <a:bodyPr/>
                    <a:lstStyle/>
                    <a:p>
                      <a:pPr marL="0" indent="0">
                        <a:buNone/>
                      </a:pPr>
                      <a:r>
                        <a:rPr lang="en-US" sz="1500" b="1" dirty="0">
                          <a:solidFill>
                            <a:schemeClr val="bg1"/>
                          </a:solidFill>
                        </a:rPr>
                        <a:t>Suggested in the problem statement</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accent4"/>
                    </a:solidFill>
                  </a:tcPr>
                </a:tc>
                <a:tc>
                  <a:txBody>
                    <a:bodyPr/>
                    <a:lstStyle/>
                    <a:p>
                      <a:pPr marL="0" indent="0">
                        <a:buNone/>
                      </a:pPr>
                      <a:r>
                        <a:rPr lang="en-US" sz="1500" b="1" dirty="0">
                          <a:solidFill>
                            <a:schemeClr val="bg1"/>
                          </a:solidFill>
                        </a:rPr>
                        <a:t>In CampusPulse</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accent4"/>
                    </a:solidFill>
                  </a:tcPr>
                </a:tc>
                <a:tc>
                  <a:txBody>
                    <a:bodyPr/>
                    <a:lstStyle/>
                    <a:p>
                      <a:pPr marL="0" indent="0" algn="ctr">
                        <a:buNone/>
                      </a:pPr>
                      <a:r>
                        <a:rPr lang="en-US" sz="1500" b="1" dirty="0">
                          <a:solidFill>
                            <a:schemeClr val="bg1"/>
                          </a:solidFill>
                        </a:rPr>
                        <a:t>Status</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accent4"/>
                    </a:solidFill>
                  </a:tcPr>
                </a:tc>
                <a:extLst>
                  <a:ext uri="{0D108BD9-81ED-4DB2-BD59-A6C34878D82A}">
                    <a16:rowId xmlns:a16="http://schemas.microsoft.com/office/drawing/2014/main" val="10000"/>
                  </a:ext>
                </a:extLst>
              </a:tr>
              <a:tr h="548640">
                <a:tc>
                  <a:txBody>
                    <a:bodyPr/>
                    <a:lstStyle/>
                    <a:p>
                      <a:pPr marL="0" indent="0">
                        <a:buNone/>
                      </a:pPr>
                      <a:r>
                        <a:rPr lang="en-US" sz="1500" b="1" dirty="0">
                          <a:solidFill>
                            <a:schemeClr val="tx1"/>
                          </a:solidFill>
                        </a:rPr>
                        <a:t>Event discovery with smart filtering</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buNone/>
                      </a:pPr>
                      <a:r>
                        <a:rPr lang="en-US" sz="1500" dirty="0">
                          <a:solidFill>
                            <a:schemeClr val="tx2"/>
                          </a:solidFill>
                        </a:rPr>
                        <a:t>Search + 5 filters, club &amp; department pages, featured events</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accent3"/>
                          </a:solidFill>
                        </a:rPr>
                        <a:t>Built</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48640">
                <a:tc>
                  <a:txBody>
                    <a:bodyPr/>
                    <a:lstStyle/>
                    <a:p>
                      <a:pPr marL="0" indent="0">
                        <a:buNone/>
                      </a:pPr>
                      <a:r>
                        <a:rPr lang="en-US" sz="1500" b="1" dirty="0">
                          <a:solidFill>
                            <a:schemeClr val="tx1"/>
                          </a:solidFill>
                        </a:rPr>
                        <a:t>QR tickets, reminders, QR check-in</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buNone/>
                      </a:pPr>
                      <a:r>
                        <a:rPr lang="en-US" sz="1500" dirty="0">
                          <a:solidFill>
                            <a:schemeClr val="tx2"/>
                          </a:solidFill>
                        </a:rPr>
                        <a:t>Signed QR per team, day-before reminder, camera scanner</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accent3"/>
                          </a:solidFill>
                        </a:rPr>
                        <a:t>Built</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48640">
                <a:tc>
                  <a:txBody>
                    <a:bodyPr/>
                    <a:lstStyle/>
                    <a:p>
                      <a:pPr marL="0" indent="0">
                        <a:buNone/>
                      </a:pPr>
                      <a:r>
                        <a:rPr lang="en-US" sz="1500" b="1" dirty="0">
                          <a:solidFill>
                            <a:schemeClr val="tx1"/>
                          </a:solidFill>
                        </a:rPr>
                        <a:t>Venue conflict detection</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buNone/>
                      </a:pPr>
                      <a:r>
                        <a:rPr lang="en-US" sz="1500" dirty="0">
                          <a:solidFill>
                            <a:schemeClr val="tx2"/>
                          </a:solidFill>
                        </a:rPr>
                        <a:t>Alert on save + flag in the approval queue</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accent3"/>
                          </a:solidFill>
                        </a:rPr>
                        <a:t>Built</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48640">
                <a:tc>
                  <a:txBody>
                    <a:bodyPr/>
                    <a:lstStyle/>
                    <a:p>
                      <a:pPr marL="0" indent="0">
                        <a:buNone/>
                      </a:pPr>
                      <a:r>
                        <a:rPr lang="en-US" sz="1500" b="1" dirty="0">
                          <a:solidFill>
                            <a:schemeClr val="tx1"/>
                          </a:solidFill>
                        </a:rPr>
                        <a:t>Digital approval workflow</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buNone/>
                      </a:pPr>
                      <a:r>
                        <a:rPr lang="en-US" sz="1500" dirty="0">
                          <a:solidFill>
                            <a:schemeClr val="tx2"/>
                          </a:solidFill>
                        </a:rPr>
                        <a:t>Approve / request changes / resubmit, with notes</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accent3"/>
                          </a:solidFill>
                        </a:rPr>
                        <a:t>Built</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48640">
                <a:tc>
                  <a:txBody>
                    <a:bodyPr/>
                    <a:lstStyle/>
                    <a:p>
                      <a:pPr marL="0" indent="0">
                        <a:buNone/>
                      </a:pPr>
                      <a:r>
                        <a:rPr lang="en-US" sz="1500" b="1" dirty="0">
                          <a:solidFill>
                            <a:schemeClr val="tx1"/>
                          </a:solidFill>
                        </a:rPr>
                        <a:t>Organizer dashboard &amp; analytics</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buNone/>
                      </a:pPr>
                      <a:r>
                        <a:rPr lang="en-US" sz="1500" dirty="0">
                          <a:solidFill>
                            <a:schemeClr val="tx2"/>
                          </a:solidFill>
                        </a:rPr>
                        <a:t>Registrations, payments, live attendance, Excel</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accent3"/>
                          </a:solidFill>
                        </a:rPr>
                        <a:t>Built</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48640">
                <a:tc>
                  <a:txBody>
                    <a:bodyPr/>
                    <a:lstStyle/>
                    <a:p>
                      <a:pPr marL="0" indent="0">
                        <a:buNone/>
                      </a:pPr>
                      <a:r>
                        <a:rPr lang="en-US" sz="1500" b="1" dirty="0">
                          <a:solidFill>
                            <a:schemeClr val="tx1"/>
                          </a:solidFill>
                        </a:rPr>
                        <a:t>Personalized recommendations</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buNone/>
                      </a:pPr>
                      <a:r>
                        <a:rPr lang="en-US" sz="1500" dirty="0">
                          <a:solidFill>
                            <a:schemeClr val="tx2"/>
                          </a:solidFill>
                        </a:rPr>
                        <a:t>Based on clubs and past events attended</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accent2"/>
                          </a:solidFill>
                        </a:rPr>
                        <a:t>Next</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548640">
                <a:tc>
                  <a:txBody>
                    <a:bodyPr/>
                    <a:lstStyle/>
                    <a:p>
                      <a:pPr marL="0" indent="0">
                        <a:buNone/>
                      </a:pPr>
                      <a:r>
                        <a:rPr lang="en-US" sz="1500" b="1" dirty="0">
                          <a:solidFill>
                            <a:schemeClr val="tx1"/>
                          </a:solidFill>
                        </a:rPr>
                        <a:t>AI flyer-to-event extraction</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buNone/>
                      </a:pPr>
                      <a:r>
                        <a:rPr lang="en-US" sz="1500" dirty="0">
                          <a:solidFill>
                            <a:schemeClr val="tx2"/>
                          </a:solidFill>
                        </a:rPr>
                        <a:t>Upload a poster, get an event draft</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accent2"/>
                          </a:solidFill>
                        </a:rPr>
                        <a:t>Next</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400" b="1" dirty="0">
                <a:solidFill>
                  <a:schemeClr val="tx1"/>
                </a:solidFill>
              </a:rPr>
              <a:t>Built to run on campus today</a:t>
            </a:r>
            <a:endParaRPr lang="en-US" sz="3400" dirty="0"/>
          </a:p>
        </p:txBody>
      </p:sp>
      <p:sp>
        <p:nvSpPr>
          <p:cNvPr id="3" name="Frontend card"/>
          <p:cNvSpPr/>
          <p:nvPr/>
        </p:nvSpPr>
        <p:spPr>
          <a:xfrm>
            <a:off x="548640" y="1417320"/>
            <a:ext cx="2606040" cy="1874520"/>
          </a:xfrm>
          <a:prstGeom prst="roundRect">
            <a:avLst>
              <a:gd name="adj" fmla="val 6829"/>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4" name="Frontend text"/>
          <p:cNvSpPr txBox="1"/>
          <p:nvPr/>
        </p:nvSpPr>
        <p:spPr>
          <a:xfrm>
            <a:off x="777240" y="1645920"/>
            <a:ext cx="2194560" cy="1645920"/>
          </a:xfrm>
          <a:prstGeom prst="rect">
            <a:avLst/>
          </a:prstGeom>
          <a:noFill/>
          <a:ln/>
        </p:spPr>
        <p:txBody>
          <a:bodyPr wrap="square" lIns="0" tIns="0" rIns="0" bIns="0" rtlCol="0" anchor="t"/>
          <a:lstStyle/>
          <a:p>
            <a:pPr marL="0" indent="0">
              <a:spcAft>
                <a:spcPts val="600"/>
              </a:spcAft>
              <a:buNone/>
            </a:pPr>
            <a:r>
              <a:rPr lang="en-US" sz="1200" b="1" kern="0" spc="150" dirty="0">
                <a:solidFill>
                  <a:schemeClr val="accent1"/>
                </a:solidFill>
              </a:rPr>
              <a:t>FRONTEND</a:t>
            </a:r>
            <a:endParaRPr lang="en-US" sz="1200" dirty="0"/>
          </a:p>
          <a:p>
            <a:pPr marL="0" indent="0">
              <a:spcAft>
                <a:spcPts val="600"/>
              </a:spcAft>
              <a:buNone/>
            </a:pPr>
            <a:r>
              <a:rPr lang="en-US" sz="1800" b="1" dirty="0">
                <a:solidFill>
                  <a:schemeClr val="tx1"/>
                </a:solidFill>
              </a:rPr>
              <a:t>React + Tailwind CSS</a:t>
            </a:r>
            <a:endParaRPr lang="en-US" sz="1200" dirty="0"/>
          </a:p>
          <a:p>
            <a:pPr marL="0" indent="0">
              <a:spcAft>
                <a:spcPts val="600"/>
              </a:spcAft>
              <a:buNone/>
            </a:pPr>
            <a:r>
              <a:rPr lang="en-US" sz="1400" dirty="0">
                <a:solidFill>
                  <a:schemeClr val="tx2"/>
                </a:solidFill>
              </a:rPr>
              <a:t>Responsive: laptop and phone</a:t>
            </a:r>
            <a:endParaRPr lang="en-US" sz="1200" dirty="0"/>
          </a:p>
        </p:txBody>
      </p:sp>
      <p:sp>
        <p:nvSpPr>
          <p:cNvPr id="5" name="Backend card"/>
          <p:cNvSpPr/>
          <p:nvPr/>
        </p:nvSpPr>
        <p:spPr>
          <a:xfrm>
            <a:off x="3337560" y="1417320"/>
            <a:ext cx="2606040" cy="1874520"/>
          </a:xfrm>
          <a:prstGeom prst="roundRect">
            <a:avLst>
              <a:gd name="adj" fmla="val 6829"/>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6" name="Backend text"/>
          <p:cNvSpPr txBox="1"/>
          <p:nvPr/>
        </p:nvSpPr>
        <p:spPr>
          <a:xfrm>
            <a:off x="3566160" y="1645920"/>
            <a:ext cx="2194560" cy="1645920"/>
          </a:xfrm>
          <a:prstGeom prst="rect">
            <a:avLst/>
          </a:prstGeom>
          <a:noFill/>
          <a:ln/>
        </p:spPr>
        <p:txBody>
          <a:bodyPr wrap="square" lIns="0" tIns="0" rIns="0" bIns="0" rtlCol="0" anchor="t"/>
          <a:lstStyle/>
          <a:p>
            <a:pPr marL="0" indent="0">
              <a:spcAft>
                <a:spcPts val="600"/>
              </a:spcAft>
              <a:buNone/>
            </a:pPr>
            <a:r>
              <a:rPr lang="en-US" sz="1200" b="1" kern="0" spc="150" dirty="0">
                <a:solidFill>
                  <a:schemeClr val="accent1"/>
                </a:solidFill>
              </a:rPr>
              <a:t>BACKEND</a:t>
            </a:r>
            <a:endParaRPr lang="en-US" sz="1200" dirty="0"/>
          </a:p>
          <a:p>
            <a:pPr marL="0" indent="0">
              <a:spcAft>
                <a:spcPts val="600"/>
              </a:spcAft>
              <a:buNone/>
            </a:pPr>
            <a:r>
              <a:rPr lang="en-US" sz="1800" b="1" dirty="0">
                <a:solidFill>
                  <a:schemeClr val="tx1"/>
                </a:solidFill>
              </a:rPr>
              <a:t>Node.js + Express</a:t>
            </a:r>
            <a:endParaRPr lang="en-US" sz="1200" dirty="0"/>
          </a:p>
          <a:p>
            <a:pPr marL="0" indent="0">
              <a:spcAft>
                <a:spcPts val="600"/>
              </a:spcAft>
              <a:buNone/>
            </a:pPr>
            <a:r>
              <a:rPr lang="en-US" sz="1400" dirty="0">
                <a:solidFill>
                  <a:schemeClr val="tx2"/>
                </a:solidFill>
              </a:rPr>
              <a:t>REST API, role-based access</a:t>
            </a:r>
            <a:endParaRPr lang="en-US" sz="1200" dirty="0"/>
          </a:p>
        </p:txBody>
      </p:sp>
      <p:sp>
        <p:nvSpPr>
          <p:cNvPr id="7" name="Database card"/>
          <p:cNvSpPr/>
          <p:nvPr/>
        </p:nvSpPr>
        <p:spPr>
          <a:xfrm>
            <a:off x="548640" y="3520440"/>
            <a:ext cx="2606040" cy="1874520"/>
          </a:xfrm>
          <a:prstGeom prst="roundRect">
            <a:avLst>
              <a:gd name="adj" fmla="val 6829"/>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8" name="Database text"/>
          <p:cNvSpPr txBox="1"/>
          <p:nvPr/>
        </p:nvSpPr>
        <p:spPr>
          <a:xfrm>
            <a:off x="777240" y="3749040"/>
            <a:ext cx="2194560" cy="1645920"/>
          </a:xfrm>
          <a:prstGeom prst="rect">
            <a:avLst/>
          </a:prstGeom>
          <a:noFill/>
          <a:ln/>
        </p:spPr>
        <p:txBody>
          <a:bodyPr wrap="square" lIns="0" tIns="0" rIns="0" bIns="0" rtlCol="0" anchor="t"/>
          <a:lstStyle/>
          <a:p>
            <a:pPr marL="0" indent="0">
              <a:spcAft>
                <a:spcPts val="600"/>
              </a:spcAft>
              <a:buNone/>
            </a:pPr>
            <a:r>
              <a:rPr lang="en-US" sz="1200" b="1" kern="0" spc="150" dirty="0">
                <a:solidFill>
                  <a:schemeClr val="accent1"/>
                </a:solidFill>
              </a:rPr>
              <a:t>DATABASE</a:t>
            </a:r>
            <a:endParaRPr lang="en-US" sz="1200" dirty="0"/>
          </a:p>
          <a:p>
            <a:pPr marL="0" indent="0">
              <a:spcAft>
                <a:spcPts val="600"/>
              </a:spcAft>
              <a:buNone/>
            </a:pPr>
            <a:r>
              <a:rPr lang="en-US" sz="1800" b="1" dirty="0">
                <a:solidFill>
                  <a:schemeClr val="tx1"/>
                </a:solidFill>
              </a:rPr>
              <a:t>SQLite</a:t>
            </a:r>
            <a:endParaRPr lang="en-US" sz="1200" dirty="0"/>
          </a:p>
          <a:p>
            <a:pPr marL="0" indent="0">
              <a:spcAft>
                <a:spcPts val="600"/>
              </a:spcAft>
              <a:buNone/>
            </a:pPr>
            <a:r>
              <a:rPr lang="en-US" sz="1400" dirty="0">
                <a:solidFill>
                  <a:schemeClr val="tx2"/>
                </a:solidFill>
              </a:rPr>
              <a:t>Zero setup, one file</a:t>
            </a:r>
            <a:endParaRPr lang="en-US" sz="1200" dirty="0"/>
          </a:p>
        </p:txBody>
      </p:sp>
      <p:sp>
        <p:nvSpPr>
          <p:cNvPr id="9" name="Runs anywhere card"/>
          <p:cNvSpPr/>
          <p:nvPr/>
        </p:nvSpPr>
        <p:spPr>
          <a:xfrm>
            <a:off x="3337560" y="3520440"/>
            <a:ext cx="2606040" cy="1874520"/>
          </a:xfrm>
          <a:prstGeom prst="roundRect">
            <a:avLst>
              <a:gd name="adj" fmla="val 6829"/>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10" name="Runs anywhere text"/>
          <p:cNvSpPr txBox="1"/>
          <p:nvPr/>
        </p:nvSpPr>
        <p:spPr>
          <a:xfrm>
            <a:off x="3566160" y="3749040"/>
            <a:ext cx="2194560" cy="1645920"/>
          </a:xfrm>
          <a:prstGeom prst="rect">
            <a:avLst/>
          </a:prstGeom>
          <a:noFill/>
          <a:ln/>
        </p:spPr>
        <p:txBody>
          <a:bodyPr wrap="square" lIns="0" tIns="0" rIns="0" bIns="0" rtlCol="0" anchor="t"/>
          <a:lstStyle/>
          <a:p>
            <a:pPr marL="0" indent="0">
              <a:spcAft>
                <a:spcPts val="600"/>
              </a:spcAft>
              <a:buNone/>
            </a:pPr>
            <a:r>
              <a:rPr lang="en-US" sz="1200" b="1" kern="0" spc="150" dirty="0">
                <a:solidFill>
                  <a:schemeClr val="accent1"/>
                </a:solidFill>
              </a:rPr>
              <a:t>RUNS ANYWHERE</a:t>
            </a:r>
            <a:endParaRPr lang="en-US" sz="1200" dirty="0"/>
          </a:p>
          <a:p>
            <a:pPr marL="0" indent="0">
              <a:spcAft>
                <a:spcPts val="600"/>
              </a:spcAft>
              <a:buNone/>
            </a:pPr>
            <a:r>
              <a:rPr lang="en-US" sz="1800" b="1" dirty="0">
                <a:solidFill>
                  <a:schemeClr val="tx1"/>
                </a:solidFill>
              </a:rPr>
              <a:t>One command</a:t>
            </a:r>
            <a:endParaRPr lang="en-US" sz="1200" dirty="0"/>
          </a:p>
          <a:p>
            <a:pPr marL="0" indent="0">
              <a:spcAft>
                <a:spcPts val="600"/>
              </a:spcAft>
              <a:buNone/>
            </a:pPr>
            <a:r>
              <a:rPr lang="en-US" sz="1400" dirty="0">
                <a:solidFill>
                  <a:schemeClr val="tx2"/>
                </a:solidFill>
              </a:rPr>
              <a:t>npm run dev, demo data seeded</a:t>
            </a:r>
            <a:endParaRPr lang="en-US" sz="1200" dirty="0"/>
          </a:p>
        </p:txBody>
      </p:sp>
      <p:sp>
        <p:nvSpPr>
          <p:cNvPr id="11" name="security heading"/>
          <p:cNvSpPr txBox="1"/>
          <p:nvPr/>
        </p:nvSpPr>
        <p:spPr>
          <a:xfrm>
            <a:off x="6400800" y="1417320"/>
            <a:ext cx="5212080" cy="457200"/>
          </a:xfrm>
          <a:prstGeom prst="rect">
            <a:avLst/>
          </a:prstGeom>
          <a:noFill/>
          <a:ln/>
        </p:spPr>
        <p:txBody>
          <a:bodyPr wrap="square" lIns="0" tIns="0" rIns="0" bIns="0" rtlCol="0" anchor="ctr"/>
          <a:lstStyle/>
          <a:p>
            <a:pPr marL="0" indent="0">
              <a:buNone/>
            </a:pPr>
            <a:r>
              <a:rPr lang="en-US" sz="2200" b="1" dirty="0">
                <a:solidFill>
                  <a:schemeClr val="tx1"/>
                </a:solidFill>
              </a:rPr>
              <a:t>Security &amp; trust</a:t>
            </a:r>
            <a:endParaRPr lang="en-US" sz="2200" dirty="0"/>
          </a:p>
        </p:txBody>
      </p:sp>
      <p:sp>
        <p:nvSpPr>
          <p:cNvPr id="12" name="point 1 dot"/>
          <p:cNvSpPr/>
          <p:nvPr/>
        </p:nvSpPr>
        <p:spPr>
          <a:xfrm>
            <a:off x="6400800" y="2121408"/>
            <a:ext cx="182880" cy="182880"/>
          </a:xfrm>
          <a:prstGeom prst="ellipse">
            <a:avLst/>
          </a:prstGeom>
          <a:solidFill>
            <a:schemeClr val="accent3"/>
          </a:solidFill>
          <a:ln/>
        </p:spPr>
      </p:sp>
      <p:sp>
        <p:nvSpPr>
          <p:cNvPr id="13" name="point 1"/>
          <p:cNvSpPr txBox="1"/>
          <p:nvPr/>
        </p:nvSpPr>
        <p:spPr>
          <a:xfrm>
            <a:off x="6748272" y="2057400"/>
            <a:ext cx="486460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Captcha on login &amp; sign-up</a:t>
            </a:r>
            <a:endParaRPr lang="en-US" sz="1500" dirty="0"/>
          </a:p>
          <a:p>
            <a:pPr marL="0" indent="0">
              <a:spcAft>
                <a:spcPts val="200"/>
              </a:spcAft>
              <a:buNone/>
            </a:pPr>
            <a:r>
              <a:rPr lang="en-US" sz="1500" dirty="0">
                <a:solidFill>
                  <a:schemeClr val="tx2"/>
                </a:solidFill>
              </a:rPr>
              <a:t>Checked on the server, single use</a:t>
            </a:r>
            <a:endParaRPr lang="en-US" sz="1500" dirty="0"/>
          </a:p>
        </p:txBody>
      </p:sp>
      <p:sp>
        <p:nvSpPr>
          <p:cNvPr id="14" name="point 2 dot"/>
          <p:cNvSpPr/>
          <p:nvPr/>
        </p:nvSpPr>
        <p:spPr>
          <a:xfrm>
            <a:off x="6400800" y="3035808"/>
            <a:ext cx="182880" cy="182880"/>
          </a:xfrm>
          <a:prstGeom prst="ellipse">
            <a:avLst/>
          </a:prstGeom>
          <a:solidFill>
            <a:schemeClr val="accent3"/>
          </a:solidFill>
          <a:ln/>
        </p:spPr>
      </p:sp>
      <p:sp>
        <p:nvSpPr>
          <p:cNvPr id="15" name="point 2"/>
          <p:cNvSpPr txBox="1"/>
          <p:nvPr/>
        </p:nvSpPr>
        <p:spPr>
          <a:xfrm>
            <a:off x="6748272" y="2971800"/>
            <a:ext cx="486460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Hashed passwords, rate-limited login</a:t>
            </a:r>
            <a:endParaRPr lang="en-US" sz="1500" dirty="0"/>
          </a:p>
          <a:p>
            <a:pPr marL="0" indent="0">
              <a:spcAft>
                <a:spcPts val="200"/>
              </a:spcAft>
              <a:buNone/>
            </a:pPr>
            <a:r>
              <a:rPr lang="en-US" sz="1500" dirty="0">
                <a:solidFill>
                  <a:schemeClr val="tx2"/>
                </a:solidFill>
              </a:rPr>
              <a:t>scrypt; session cookies</a:t>
            </a:r>
            <a:endParaRPr lang="en-US" sz="1500" dirty="0"/>
          </a:p>
        </p:txBody>
      </p:sp>
      <p:sp>
        <p:nvSpPr>
          <p:cNvPr id="16" name="point 3 dot"/>
          <p:cNvSpPr/>
          <p:nvPr/>
        </p:nvSpPr>
        <p:spPr>
          <a:xfrm>
            <a:off x="6400800" y="3950208"/>
            <a:ext cx="182880" cy="182880"/>
          </a:xfrm>
          <a:prstGeom prst="ellipse">
            <a:avLst/>
          </a:prstGeom>
          <a:solidFill>
            <a:schemeClr val="accent3"/>
          </a:solidFill>
          <a:ln/>
        </p:spPr>
      </p:sp>
      <p:sp>
        <p:nvSpPr>
          <p:cNvPr id="17" name="point 3"/>
          <p:cNvSpPr txBox="1"/>
          <p:nvPr/>
        </p:nvSpPr>
        <p:spPr>
          <a:xfrm>
            <a:off x="6748272" y="3886200"/>
            <a:ext cx="486460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Tamper-proof QR</a:t>
            </a:r>
            <a:endParaRPr lang="en-US" sz="1500" dirty="0"/>
          </a:p>
          <a:p>
            <a:pPr marL="0" indent="0">
              <a:spcAft>
                <a:spcPts val="200"/>
              </a:spcAft>
              <a:buNone/>
            </a:pPr>
            <a:r>
              <a:rPr lang="en-US" sz="1500" dirty="0">
                <a:solidFill>
                  <a:schemeClr val="tx2"/>
                </a:solidFill>
              </a:rPr>
              <a:t>HMAC-signed tickets; fakes rejected at the gate</a:t>
            </a:r>
            <a:endParaRPr lang="en-US" sz="1500" dirty="0"/>
          </a:p>
        </p:txBody>
      </p:sp>
      <p:sp>
        <p:nvSpPr>
          <p:cNvPr id="18" name="point 4 dot"/>
          <p:cNvSpPr/>
          <p:nvPr/>
        </p:nvSpPr>
        <p:spPr>
          <a:xfrm>
            <a:off x="6400800" y="4864608"/>
            <a:ext cx="182880" cy="182880"/>
          </a:xfrm>
          <a:prstGeom prst="ellipse">
            <a:avLst/>
          </a:prstGeom>
          <a:solidFill>
            <a:schemeClr val="accent3"/>
          </a:solidFill>
          <a:ln/>
        </p:spPr>
      </p:sp>
      <p:sp>
        <p:nvSpPr>
          <p:cNvPr id="19" name="point 4"/>
          <p:cNvSpPr txBox="1"/>
          <p:nvPr/>
        </p:nvSpPr>
        <p:spPr>
          <a:xfrm>
            <a:off x="6748272" y="4800600"/>
            <a:ext cx="486460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One payment, one registration</a:t>
            </a:r>
            <a:endParaRPr lang="en-US" sz="1500" dirty="0"/>
          </a:p>
          <a:p>
            <a:pPr marL="0" indent="0">
              <a:spcAft>
                <a:spcPts val="200"/>
              </a:spcAft>
              <a:buNone/>
            </a:pPr>
            <a:r>
              <a:rPr lang="en-US" sz="1500" dirty="0">
                <a:solidFill>
                  <a:schemeClr val="tx2"/>
                </a:solidFill>
              </a:rPr>
              <a:t>Transaction IDs can never be reused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400" b="1" dirty="0">
                <a:solidFill>
                  <a:schemeClr val="tx1"/>
                </a:solidFill>
              </a:rPr>
              <a:t>What's next</a:t>
            </a:r>
            <a:endParaRPr lang="en-US" sz="3400" dirty="0"/>
          </a:p>
        </p:txBody>
      </p:sp>
      <p:sp>
        <p:nvSpPr>
          <p:cNvPr id="3" name="Ask CampusPulse AI card"/>
          <p:cNvSpPr/>
          <p:nvPr/>
        </p:nvSpPr>
        <p:spPr>
          <a:xfrm>
            <a:off x="548640" y="1463040"/>
            <a:ext cx="2606040" cy="3291840"/>
          </a:xfrm>
          <a:prstGeom prst="roundRect">
            <a:avLst>
              <a:gd name="adj" fmla="val 4912"/>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4" name="Ask CampusPulse AI number badge"/>
          <p:cNvSpPr/>
          <p:nvPr/>
        </p:nvSpPr>
        <p:spPr>
          <a:xfrm>
            <a:off x="822960" y="1737360"/>
            <a:ext cx="475488" cy="475488"/>
          </a:xfrm>
          <a:prstGeom prst="ellipse">
            <a:avLst/>
          </a:prstGeom>
          <a:solidFill>
            <a:schemeClr val="accent1"/>
          </a:solidFill>
          <a:ln/>
        </p:spPr>
      </p:sp>
      <p:sp>
        <p:nvSpPr>
          <p:cNvPr id="5" name="Ask CampusPulse AI number"/>
          <p:cNvSpPr txBox="1"/>
          <p:nvPr/>
        </p:nvSpPr>
        <p:spPr>
          <a:xfrm>
            <a:off x="822960" y="1737360"/>
            <a:ext cx="475488" cy="475488"/>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Ask CampusPulse AI text"/>
          <p:cNvSpPr txBox="1"/>
          <p:nvPr/>
        </p:nvSpPr>
        <p:spPr>
          <a:xfrm>
            <a:off x="822960" y="2423160"/>
            <a:ext cx="2103120" cy="2148840"/>
          </a:xfrm>
          <a:prstGeom prst="rect">
            <a:avLst/>
          </a:prstGeom>
          <a:noFill/>
          <a:ln/>
        </p:spPr>
        <p:txBody>
          <a:bodyPr wrap="square" lIns="0" tIns="0" rIns="0" bIns="0" rtlCol="0" anchor="t"/>
          <a:lstStyle/>
          <a:p>
            <a:pPr marL="0" indent="0">
              <a:spcAft>
                <a:spcPts val="800"/>
              </a:spcAft>
              <a:buNone/>
            </a:pPr>
            <a:r>
              <a:rPr lang="en-US" sz="1800" b="1" dirty="0">
                <a:solidFill>
                  <a:schemeClr val="tx1"/>
                </a:solidFill>
              </a:rPr>
              <a:t>Ask CampusPulse AI</a:t>
            </a:r>
            <a:endParaRPr lang="en-US" sz="1800" dirty="0"/>
          </a:p>
          <a:p>
            <a:pPr marL="0" indent="0">
              <a:spcAft>
                <a:spcPts val="800"/>
              </a:spcAft>
              <a:buNone/>
            </a:pPr>
            <a:r>
              <a:rPr lang="en-US" sz="1500" dirty="0">
                <a:solidFill>
                  <a:schemeClr val="tx2"/>
                </a:solidFill>
              </a:rPr>
              <a:t>Answers students' questions about events, rules, deadlines and their registration, instead of coordinators.</a:t>
            </a:r>
            <a:endParaRPr lang="en-US" sz="1800" dirty="0"/>
          </a:p>
        </p:txBody>
      </p:sp>
      <p:sp>
        <p:nvSpPr>
          <p:cNvPr id="7" name="AI poster → event draft card"/>
          <p:cNvSpPr/>
          <p:nvPr/>
        </p:nvSpPr>
        <p:spPr>
          <a:xfrm>
            <a:off x="3337560" y="1463040"/>
            <a:ext cx="2606040" cy="3291840"/>
          </a:xfrm>
          <a:prstGeom prst="roundRect">
            <a:avLst>
              <a:gd name="adj" fmla="val 4912"/>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8" name="AI poster → event draft number badge"/>
          <p:cNvSpPr/>
          <p:nvPr/>
        </p:nvSpPr>
        <p:spPr>
          <a:xfrm>
            <a:off x="3611880" y="1737360"/>
            <a:ext cx="475488" cy="475488"/>
          </a:xfrm>
          <a:prstGeom prst="ellipse">
            <a:avLst/>
          </a:prstGeom>
          <a:solidFill>
            <a:schemeClr val="accent2"/>
          </a:solidFill>
          <a:ln/>
        </p:spPr>
      </p:sp>
      <p:sp>
        <p:nvSpPr>
          <p:cNvPr id="9" name="AI poster → event draft number"/>
          <p:cNvSpPr txBox="1"/>
          <p:nvPr/>
        </p:nvSpPr>
        <p:spPr>
          <a:xfrm>
            <a:off x="3611880" y="1737360"/>
            <a:ext cx="475488" cy="475488"/>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0" name="AI poster → event draft text"/>
          <p:cNvSpPr txBox="1"/>
          <p:nvPr/>
        </p:nvSpPr>
        <p:spPr>
          <a:xfrm>
            <a:off x="3611880" y="2423160"/>
            <a:ext cx="2103120" cy="2148840"/>
          </a:xfrm>
          <a:prstGeom prst="rect">
            <a:avLst/>
          </a:prstGeom>
          <a:noFill/>
          <a:ln/>
        </p:spPr>
        <p:txBody>
          <a:bodyPr wrap="square" lIns="0" tIns="0" rIns="0" bIns="0" rtlCol="0" anchor="t"/>
          <a:lstStyle/>
          <a:p>
            <a:pPr marL="0" indent="0">
              <a:spcAft>
                <a:spcPts val="800"/>
              </a:spcAft>
              <a:buNone/>
            </a:pPr>
            <a:r>
              <a:rPr lang="en-US" sz="1800" b="1" dirty="0">
                <a:solidFill>
                  <a:schemeClr val="tx1"/>
                </a:solidFill>
              </a:rPr>
              <a:t>AI poster → event draft</a:t>
            </a:r>
            <a:endParaRPr lang="en-US" sz="1800" dirty="0"/>
          </a:p>
          <a:p>
            <a:pPr marL="0" indent="0">
              <a:spcAft>
                <a:spcPts val="800"/>
              </a:spcAft>
              <a:buNone/>
            </a:pPr>
            <a:r>
              <a:rPr lang="en-US" sz="1500" dirty="0">
                <a:solidFill>
                  <a:schemeClr val="tx2"/>
                </a:solidFill>
              </a:rPr>
              <a:t>Upload a poster; the event form fills itself for the organizer to check.</a:t>
            </a:r>
            <a:endParaRPr lang="en-US" sz="1800" dirty="0"/>
          </a:p>
        </p:txBody>
      </p:sp>
      <p:sp>
        <p:nvSpPr>
          <p:cNvPr id="11" name="Personalized feed card"/>
          <p:cNvSpPr/>
          <p:nvPr/>
        </p:nvSpPr>
        <p:spPr>
          <a:xfrm>
            <a:off x="6126480" y="1463040"/>
            <a:ext cx="2606040" cy="3291840"/>
          </a:xfrm>
          <a:prstGeom prst="roundRect">
            <a:avLst>
              <a:gd name="adj" fmla="val 4912"/>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12" name="Personalized feed number badge"/>
          <p:cNvSpPr/>
          <p:nvPr/>
        </p:nvSpPr>
        <p:spPr>
          <a:xfrm>
            <a:off x="6400800" y="1737360"/>
            <a:ext cx="475488" cy="475488"/>
          </a:xfrm>
          <a:prstGeom prst="ellipse">
            <a:avLst/>
          </a:prstGeom>
          <a:solidFill>
            <a:schemeClr val="accent3"/>
          </a:solidFill>
          <a:ln/>
        </p:spPr>
      </p:sp>
      <p:sp>
        <p:nvSpPr>
          <p:cNvPr id="13" name="Personalized feed number"/>
          <p:cNvSpPr txBox="1"/>
          <p:nvPr/>
        </p:nvSpPr>
        <p:spPr>
          <a:xfrm>
            <a:off x="6400800" y="1737360"/>
            <a:ext cx="475488" cy="475488"/>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4" name="Personalized feed text"/>
          <p:cNvSpPr txBox="1"/>
          <p:nvPr/>
        </p:nvSpPr>
        <p:spPr>
          <a:xfrm>
            <a:off x="6400800" y="2423160"/>
            <a:ext cx="2103120" cy="2148840"/>
          </a:xfrm>
          <a:prstGeom prst="rect">
            <a:avLst/>
          </a:prstGeom>
          <a:noFill/>
          <a:ln/>
        </p:spPr>
        <p:txBody>
          <a:bodyPr wrap="square" lIns="0" tIns="0" rIns="0" bIns="0" rtlCol="0" anchor="t"/>
          <a:lstStyle/>
          <a:p>
            <a:pPr marL="0" indent="0">
              <a:spcAft>
                <a:spcPts val="800"/>
              </a:spcAft>
              <a:buNone/>
            </a:pPr>
            <a:r>
              <a:rPr lang="en-US" sz="1800" b="1" dirty="0">
                <a:solidFill>
                  <a:schemeClr val="tx1"/>
                </a:solidFill>
              </a:rPr>
              <a:t>Personalized feed</a:t>
            </a:r>
            <a:endParaRPr lang="en-US" sz="1800" dirty="0"/>
          </a:p>
          <a:p>
            <a:pPr marL="0" indent="0">
              <a:spcAft>
                <a:spcPts val="800"/>
              </a:spcAft>
              <a:buNone/>
            </a:pPr>
            <a:r>
              <a:rPr lang="en-US" sz="1500" dirty="0">
                <a:solidFill>
                  <a:schemeClr val="tx2"/>
                </a:solidFill>
              </a:rPr>
              <a:t>Recommendations from clubs followed and events attended.</a:t>
            </a:r>
            <a:endParaRPr lang="en-US" sz="1800" dirty="0"/>
          </a:p>
        </p:txBody>
      </p:sp>
      <p:sp>
        <p:nvSpPr>
          <p:cNvPr id="15" name="Smarter scheduling card"/>
          <p:cNvSpPr/>
          <p:nvPr/>
        </p:nvSpPr>
        <p:spPr>
          <a:xfrm>
            <a:off x="8915400" y="1463040"/>
            <a:ext cx="2606040" cy="3291840"/>
          </a:xfrm>
          <a:prstGeom prst="roundRect">
            <a:avLst>
              <a:gd name="adj" fmla="val 4912"/>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16" name="Smarter scheduling number badge"/>
          <p:cNvSpPr/>
          <p:nvPr/>
        </p:nvSpPr>
        <p:spPr>
          <a:xfrm>
            <a:off x="9189720" y="1737360"/>
            <a:ext cx="475488" cy="475488"/>
          </a:xfrm>
          <a:prstGeom prst="ellipse">
            <a:avLst/>
          </a:prstGeom>
          <a:solidFill>
            <a:schemeClr val="tx1"/>
          </a:solidFill>
          <a:ln/>
        </p:spPr>
      </p:sp>
      <p:sp>
        <p:nvSpPr>
          <p:cNvPr id="17" name="Smarter scheduling number"/>
          <p:cNvSpPr txBox="1"/>
          <p:nvPr/>
        </p:nvSpPr>
        <p:spPr>
          <a:xfrm>
            <a:off x="9189720" y="1737360"/>
            <a:ext cx="475488" cy="475488"/>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8" name="Smarter scheduling text"/>
          <p:cNvSpPr txBox="1"/>
          <p:nvPr/>
        </p:nvSpPr>
        <p:spPr>
          <a:xfrm>
            <a:off x="9189720" y="2423160"/>
            <a:ext cx="2103120" cy="2148840"/>
          </a:xfrm>
          <a:prstGeom prst="rect">
            <a:avLst/>
          </a:prstGeom>
          <a:noFill/>
          <a:ln/>
        </p:spPr>
        <p:txBody>
          <a:bodyPr wrap="square" lIns="0" tIns="0" rIns="0" bIns="0" rtlCol="0" anchor="t"/>
          <a:lstStyle/>
          <a:p>
            <a:pPr marL="0" indent="0">
              <a:spcAft>
                <a:spcPts val="800"/>
              </a:spcAft>
              <a:buNone/>
            </a:pPr>
            <a:r>
              <a:rPr lang="en-US" sz="1800" b="1" dirty="0">
                <a:solidFill>
                  <a:schemeClr val="tx1"/>
                </a:solidFill>
              </a:rPr>
              <a:t>Smarter scheduling</a:t>
            </a:r>
            <a:endParaRPr lang="en-US" sz="1800" dirty="0"/>
          </a:p>
          <a:p>
            <a:pPr marL="0" indent="0">
              <a:spcAft>
                <a:spcPts val="800"/>
              </a:spcAft>
              <a:buNone/>
            </a:pPr>
            <a:r>
              <a:rPr lang="en-US" sz="1500" dirty="0">
                <a:solidFill>
                  <a:schemeClr val="tx2"/>
                </a:solidFill>
              </a:rPr>
              <a:t>Suggest free venues and slots on a clash; add-to-calendar for students.</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554480"/>
            <a:ext cx="5669280" cy="1097280"/>
          </a:xfrm>
          <a:prstGeom prst="rect">
            <a:avLst/>
          </a:prstGeom>
          <a:noFill/>
          <a:ln/>
        </p:spPr>
        <p:txBody>
          <a:bodyPr wrap="square" lIns="0" tIns="0" rIns="0" bIns="0" rtlCol="0" anchor="t"/>
          <a:lstStyle/>
          <a:p>
            <a:pPr marL="0" indent="0" algn="l">
              <a:buNone/>
            </a:pPr>
            <a:r>
              <a:rPr lang="en-US" sz="6000" b="1" dirty="0">
                <a:solidFill>
                  <a:schemeClr val="bg1"/>
                </a:solidFill>
              </a:rPr>
              <a:t>Thank you</a:t>
            </a:r>
            <a:endParaRPr lang="en-US" sz="6000" dirty="0"/>
          </a:p>
        </p:txBody>
      </p:sp>
      <p:sp>
        <p:nvSpPr>
          <p:cNvPr id="3" name="closing tagline"/>
          <p:cNvSpPr txBox="1"/>
          <p:nvPr/>
        </p:nvSpPr>
        <p:spPr>
          <a:xfrm>
            <a:off x="640080" y="2743200"/>
            <a:ext cx="5669280" cy="1828800"/>
          </a:xfrm>
          <a:prstGeom prst="rect">
            <a:avLst/>
          </a:prstGeom>
          <a:noFill/>
          <a:ln/>
        </p:spPr>
        <p:txBody>
          <a:bodyPr wrap="square" lIns="0" tIns="0" rIns="0" bIns="0" rtlCol="0" anchor="ctr"/>
          <a:lstStyle/>
          <a:p>
            <a:pPr marL="0" indent="0">
              <a:buNone/>
            </a:pPr>
            <a:r>
              <a:rPr lang="en-US" sz="3200" b="1" dirty="0">
                <a:solidFill>
                  <a:schemeClr val="accent1"/>
                </a:solidFill>
              </a:rPr>
              <a:t>Discover Better.</a:t>
            </a:r>
            <a:endParaRPr lang="en-US" sz="3200" dirty="0"/>
          </a:p>
          <a:p>
            <a:pPr marL="0" indent="0">
              <a:buNone/>
            </a:pPr>
            <a:r>
              <a:rPr lang="en-US" sz="3200" b="1" dirty="0">
                <a:solidFill>
                  <a:schemeClr val="accent2"/>
                </a:solidFill>
              </a:rPr>
              <a:t>Organize Smarter.</a:t>
            </a:r>
            <a:endParaRPr lang="en-US" sz="3200" dirty="0"/>
          </a:p>
          <a:p>
            <a:pPr marL="0" indent="0">
              <a:buNone/>
            </a:pPr>
            <a:r>
              <a:rPr lang="en-US" sz="3200" b="1" dirty="0">
                <a:solidFill>
                  <a:schemeClr val="bg1"/>
                </a:solidFill>
              </a:rPr>
              <a:t>Connect Campus.</a:t>
            </a:r>
            <a:endParaRPr lang="en-US" sz="3200" dirty="0"/>
          </a:p>
        </p:txBody>
      </p:sp>
      <p:sp>
        <p:nvSpPr>
          <p:cNvPr id="4" name="closing team"/>
          <p:cNvSpPr txBox="1"/>
          <p:nvPr/>
        </p:nvSpPr>
        <p:spPr>
          <a:xfrm>
            <a:off x="640080" y="5257800"/>
            <a:ext cx="5943600" cy="365760"/>
          </a:xfrm>
          <a:prstGeom prst="rect">
            <a:avLst/>
          </a:prstGeom>
          <a:noFill/>
          <a:ln/>
        </p:spPr>
        <p:txBody>
          <a:bodyPr wrap="square" lIns="0" tIns="0" rIns="0" bIns="0" rtlCol="0" anchor="ctr"/>
          <a:lstStyle/>
          <a:p>
            <a:pPr marL="0" indent="0">
              <a:buNone/>
            </a:pPr>
            <a:r>
              <a:rPr lang="en-US" sz="1500" dirty="0">
                <a:solidFill>
                  <a:schemeClr val="accent5"/>
                </a:solidFill>
              </a:rPr>
              <a:t>Team [Team name]  ·  CampusPulse  ·  SYNESIS'26, SRM Ramapuram</a:t>
            </a:r>
            <a:endParaRPr lang="en-US" sz="1500" dirty="0"/>
          </a:p>
        </p:txBody>
      </p:sp>
      <p:sp>
        <p:nvSpPr>
          <p:cNvPr id="5" name="demo card"/>
          <p:cNvSpPr/>
          <p:nvPr/>
        </p:nvSpPr>
        <p:spPr>
          <a:xfrm>
            <a:off x="7040880" y="1554480"/>
            <a:ext cx="4526280" cy="2743200"/>
          </a:xfrm>
          <a:prstGeom prst="roundRect">
            <a:avLst>
              <a:gd name="adj" fmla="val 4667"/>
            </a:avLst>
          </a:prstGeom>
          <a:solidFill>
            <a:srgbClr val="1B2130"/>
          </a:solidFill>
          <a:ln w="9525">
            <a:solidFill>
              <a:srgbClr val="2A3242"/>
            </a:solidFill>
            <a:prstDash val="solid"/>
          </a:ln>
        </p:spPr>
      </p:sp>
      <p:sp>
        <p:nvSpPr>
          <p:cNvPr id="6" name="demo logins"/>
          <p:cNvSpPr txBox="1"/>
          <p:nvPr/>
        </p:nvSpPr>
        <p:spPr>
          <a:xfrm>
            <a:off x="7360920" y="1783080"/>
            <a:ext cx="3931920" cy="2377440"/>
          </a:xfrm>
          <a:prstGeom prst="rect">
            <a:avLst/>
          </a:prstGeom>
          <a:noFill/>
          <a:ln/>
        </p:spPr>
        <p:txBody>
          <a:bodyPr wrap="square" lIns="0" tIns="0" rIns="0" bIns="0" rtlCol="0" anchor="t"/>
          <a:lstStyle/>
          <a:p>
            <a:pPr marL="0" indent="0">
              <a:spcAft>
                <a:spcPts val="300"/>
              </a:spcAft>
              <a:buNone/>
            </a:pPr>
            <a:r>
              <a:rPr lang="en-US" sz="1800" b="1" dirty="0">
                <a:solidFill>
                  <a:schemeClr val="bg1"/>
                </a:solidFill>
              </a:rPr>
              <a:t>Live demo logins</a:t>
            </a:r>
            <a:endParaRPr lang="en-US" sz="1500" dirty="0"/>
          </a:p>
          <a:p>
            <a:pPr marL="0" indent="0">
              <a:spcAft>
                <a:spcPts val="300"/>
              </a:spcAft>
              <a:buNone/>
            </a:pPr>
            <a:r>
              <a:rPr lang="en-US" sz="800" dirty="0">
                <a:solidFill>
                  <a:srgbClr val="000000"/>
                </a:solidFill>
              </a:rPr>
              <a:t> </a:t>
            </a:r>
            <a:endParaRPr lang="en-US" sz="1500" dirty="0"/>
          </a:p>
          <a:p>
            <a:pPr marL="0" indent="0">
              <a:spcAft>
                <a:spcPts val="300"/>
              </a:spcAft>
              <a:buNone/>
            </a:pPr>
            <a:r>
              <a:rPr lang="en-US" sz="1500" b="1" dirty="0">
                <a:solidFill>
                  <a:schemeClr val="accent1"/>
                </a:solidFill>
              </a:rPr>
              <a:t>Student</a:t>
            </a:r>
            <a:endParaRPr lang="en-US" sz="1500" dirty="0"/>
          </a:p>
          <a:p>
            <a:pPr marL="0" indent="0">
              <a:spcAft>
                <a:spcPts val="300"/>
              </a:spcAft>
              <a:buNone/>
            </a:pPr>
            <a:r>
              <a:rPr lang="en-US" sz="1500" dirty="0">
                <a:solidFill>
                  <a:schemeClr val="bg2"/>
                </a:solidFill>
              </a:rPr>
              <a:t>ananya@student.edu  /  Student@123</a:t>
            </a:r>
            <a:endParaRPr lang="en-US" sz="1500" dirty="0"/>
          </a:p>
          <a:p>
            <a:pPr marL="0" indent="0">
              <a:spcAft>
                <a:spcPts val="300"/>
              </a:spcAft>
              <a:buNone/>
            </a:pPr>
            <a:r>
              <a:rPr lang="en-US" sz="1500" b="1" dirty="0">
                <a:solidFill>
                  <a:schemeClr val="accent2"/>
                </a:solidFill>
              </a:rPr>
              <a:t>Club admin</a:t>
            </a:r>
            <a:endParaRPr lang="en-US" sz="1500" dirty="0"/>
          </a:p>
          <a:p>
            <a:pPr marL="0" indent="0">
              <a:spcAft>
                <a:spcPts val="300"/>
              </a:spcAft>
              <a:buNone/>
            </a:pPr>
            <a:r>
              <a:rPr lang="en-US" sz="1500" dirty="0">
                <a:solidFill>
                  <a:schemeClr val="bg2"/>
                </a:solidFill>
              </a:rPr>
              <a:t>codecraft@campuspulse.edu  /  Club@1234</a:t>
            </a:r>
            <a:endParaRPr lang="en-US" sz="1500" dirty="0"/>
          </a:p>
          <a:p>
            <a:pPr marL="0" indent="0">
              <a:spcAft>
                <a:spcPts val="300"/>
              </a:spcAft>
              <a:buNone/>
            </a:pPr>
            <a:r>
              <a:rPr lang="en-US" sz="1500" b="1" dirty="0">
                <a:solidFill>
                  <a:schemeClr val="accent3"/>
                </a:solidFill>
              </a:rPr>
              <a:t>Portal admin</a:t>
            </a:r>
            <a:endParaRPr lang="en-US" sz="1500" dirty="0"/>
          </a:p>
          <a:p>
            <a:pPr marL="0" indent="0">
              <a:spcAft>
                <a:spcPts val="300"/>
              </a:spcAft>
              <a:buNone/>
            </a:pPr>
            <a:r>
              <a:rPr lang="en-US" sz="1500" dirty="0">
                <a:solidFill>
                  <a:schemeClr val="bg2"/>
                </a:solidFill>
              </a:rPr>
              <a:t>admin@campuspulse.edu  /  Admin@1234</a:t>
            </a:r>
            <a:endParaRPr lang="en-US" sz="1500" dirty="0"/>
          </a:p>
        </p:txBody>
      </p:sp>
    </p:spTree>
  </p:cSld>
  <p:clrMapOvr>
    <a:masterClrMapping/>
  </p:clrMapOvr>
</p:sld>
</file>

<file path=ppt/theme/theme1.xml><?xml version="1.0" encoding="utf-8"?>
<a:theme xmlns:a="http://schemas.openxmlformats.org/drawingml/2006/main" name="CampusPulse">
  <a:themeElements>
    <a:clrScheme name="CampusPulse">
      <a:dk1>
        <a:srgbClr val="14171F"/>
      </a:dk1>
      <a:lt1>
        <a:srgbClr val="FFFFFF"/>
      </a:lt1>
      <a:dk2>
        <a:srgbClr val="4A5363"/>
      </a:dk2>
      <a:lt2>
        <a:srgbClr val="F4F6F9"/>
      </a:lt2>
      <a:accent1>
        <a:srgbClr val="0A84FF"/>
      </a:accent1>
      <a:accent2>
        <a:srgbClr val="FF9F0A"/>
      </a:accent2>
      <a:accent3>
        <a:srgbClr val="1FA65A"/>
      </a:accent3>
      <a:accent4>
        <a:srgbClr val="0B0E14"/>
      </a:accent4>
      <a:accent5>
        <a:srgbClr val="A3ACBA"/>
      </a:accent5>
      <a:accent6>
        <a:srgbClr val="E3E7ED"/>
      </a:accent6>
      <a:hlink>
        <a:srgbClr val="0A84FF"/>
      </a:hlink>
      <a:folHlink>
        <a:srgbClr val="4A5363"/>
      </a:folHlink>
    </a:clrScheme>
    <a:fontScheme name="CampusPul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1578</Words>
  <Application>Microsoft Office PowerPoint</Application>
  <PresentationFormat>Widescreen</PresentationFormat>
  <Paragraphs>267</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CampusPulse</vt:lpstr>
      <vt:lpstr>CampusPulse</vt:lpstr>
      <vt:lpstr>Campus events are scattered and manual</vt:lpstr>
      <vt:lpstr>One platform, three roles</vt:lpstr>
      <vt:lpstr>From poster upload to live attendance, end to end</vt:lpstr>
      <vt:lpstr>Find an event in seconds</vt:lpstr>
      <vt:lpstr>Register a team and pay in one flow</vt:lpstr>
      <vt:lpstr>QR ticket at the gate, live attendance for organizers</vt:lpstr>
      <vt:lpstr>Host an event without spreadsheets</vt:lpstr>
      <vt:lpstr>Organizer dashboard and live analytics</vt:lpstr>
      <vt:lpstr>Digital approvals and portal-wide control</vt:lpstr>
      <vt:lpstr>After the event: feedback and certificates</vt:lpstr>
      <vt:lpstr>Problem Statement 1: what CampusPulse covers</vt:lpstr>
      <vt:lpstr>Built to run on campus today</vt:lpstr>
      <vt:lpstr>What's next</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CampusPulse – SYNESIS 26</dc:title>
  <dc:subject>PptxGenJS Presentation</dc:subject>
  <dc:creator>Team CampusPulse</dc:creator>
  <cp:lastModifiedBy>Abhinava Ashwin</cp:lastModifiedBy>
  <cp:revision>2</cp:revision>
  <dcterms:created xsi:type="dcterms:W3CDTF">2026-10-13T08:36:23Z</dcterms:created>
  <dcterms:modified xsi:type="dcterms:W3CDTF">2026-10-13T08:56:41Z</dcterms:modified>
</cp:coreProperties>
</file>